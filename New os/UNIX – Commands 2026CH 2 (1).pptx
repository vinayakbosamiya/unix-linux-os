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62"/>
  </p:notesMasterIdLst>
  <p:sldIdLst>
    <p:sldId id="256" r:id="rId2"/>
    <p:sldId id="275" r:id="rId3"/>
    <p:sldId id="276" r:id="rId4"/>
    <p:sldId id="277" r:id="rId5"/>
    <p:sldId id="278" r:id="rId6"/>
    <p:sldId id="279" r:id="rId7"/>
    <p:sldId id="280" r:id="rId8"/>
    <p:sldId id="281" r:id="rId9"/>
    <p:sldId id="330" r:id="rId10"/>
    <p:sldId id="282" r:id="rId11"/>
    <p:sldId id="283" r:id="rId12"/>
    <p:sldId id="284" r:id="rId13"/>
    <p:sldId id="285" r:id="rId14"/>
    <p:sldId id="286" r:id="rId15"/>
    <p:sldId id="287" r:id="rId16"/>
    <p:sldId id="288" r:id="rId17"/>
    <p:sldId id="289" r:id="rId18"/>
    <p:sldId id="290" r:id="rId19"/>
    <p:sldId id="291" r:id="rId20"/>
    <p:sldId id="292" r:id="rId21"/>
    <p:sldId id="293" r:id="rId22"/>
    <p:sldId id="294" r:id="rId23"/>
    <p:sldId id="295" r:id="rId24"/>
    <p:sldId id="296" r:id="rId25"/>
    <p:sldId id="297" r:id="rId26"/>
    <p:sldId id="298" r:id="rId27"/>
    <p:sldId id="299" r:id="rId28"/>
    <p:sldId id="300" r:id="rId29"/>
    <p:sldId id="331" r:id="rId30"/>
    <p:sldId id="301" r:id="rId31"/>
    <p:sldId id="302" r:id="rId32"/>
    <p:sldId id="303" r:id="rId33"/>
    <p:sldId id="304" r:id="rId34"/>
    <p:sldId id="333" r:id="rId35"/>
    <p:sldId id="305" r:id="rId36"/>
    <p:sldId id="306" r:id="rId37"/>
    <p:sldId id="307" r:id="rId38"/>
    <p:sldId id="308" r:id="rId39"/>
    <p:sldId id="309" r:id="rId40"/>
    <p:sldId id="310" r:id="rId41"/>
    <p:sldId id="311" r:id="rId42"/>
    <p:sldId id="312" r:id="rId43"/>
    <p:sldId id="313" r:id="rId44"/>
    <p:sldId id="314" r:id="rId45"/>
    <p:sldId id="315" r:id="rId46"/>
    <p:sldId id="316" r:id="rId47"/>
    <p:sldId id="332" r:id="rId48"/>
    <p:sldId id="317" r:id="rId49"/>
    <p:sldId id="318" r:id="rId50"/>
    <p:sldId id="319" r:id="rId51"/>
    <p:sldId id="320" r:id="rId52"/>
    <p:sldId id="321" r:id="rId53"/>
    <p:sldId id="322" r:id="rId54"/>
    <p:sldId id="323" r:id="rId55"/>
    <p:sldId id="324" r:id="rId56"/>
    <p:sldId id="325" r:id="rId57"/>
    <p:sldId id="326" r:id="rId58"/>
    <p:sldId id="327" r:id="rId59"/>
    <p:sldId id="328" r:id="rId60"/>
    <p:sldId id="329" r:id="rId6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p:restoredTop sz="94660"/>
  </p:normalViewPr>
  <p:slideViewPr>
    <p:cSldViewPr>
      <p:cViewPr varScale="1">
        <p:scale>
          <a:sx n="80" d="100"/>
          <a:sy n="80" d="100"/>
        </p:scale>
        <p:origin x="-1476" y="-6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15D5EF8-9D14-4B79-A09C-2106D69CB4D0}" type="datetimeFigureOut">
              <a:rPr lang="en-US" smtClean="0"/>
              <a:t>1/31/2026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C6A6C0E-1EBC-4DB5-976C-F2424B3770E8}" type="slidenum">
              <a:rPr lang="en-US" smtClean="0"/>
              <a:t>‹#›</a:t>
            </a:fld>
            <a:endParaRPr lang="en-US"/>
          </a:p>
        </p:txBody>
      </p:sp>
    </p:spTree>
    <p:extLst>
      <p:ext uri="{BB962C8B-B14F-4D97-AF65-F5344CB8AC3E}">
        <p14:creationId xmlns:p14="http://schemas.microsoft.com/office/powerpoint/2010/main" val="30153565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fld id="{5D38BF4D-FE95-4709-B453-EB32CFBD9C0A}" type="datetime1">
              <a:rPr lang="en-IN" smtClean="0"/>
              <a:t>31-01-2026</a:t>
            </a:fld>
            <a:endParaRPr lang="en-IN"/>
          </a:p>
        </p:txBody>
      </p:sp>
      <p:sp>
        <p:nvSpPr>
          <p:cNvPr id="20" name="Footer Placeholder 19"/>
          <p:cNvSpPr>
            <a:spLocks noGrp="1"/>
          </p:cNvSpPr>
          <p:nvPr>
            <p:ph type="ftr" sz="quarter" idx="11"/>
          </p:nvPr>
        </p:nvSpPr>
        <p:spPr/>
        <p:txBody>
          <a:bodyPr/>
          <a:lstStyle>
            <a:extLst/>
          </a:lstStyle>
          <a:p>
            <a:r>
              <a:rPr lang="en-US" smtClean="0"/>
              <a:t>Created By: Prof. Mital Goswami</a:t>
            </a:r>
            <a:endParaRPr lang="en-IN"/>
          </a:p>
        </p:txBody>
      </p:sp>
      <p:sp>
        <p:nvSpPr>
          <p:cNvPr id="10" name="Slide Number Placeholder 9"/>
          <p:cNvSpPr>
            <a:spLocks noGrp="1"/>
          </p:cNvSpPr>
          <p:nvPr>
            <p:ph type="sldNum" sz="quarter" idx="12"/>
          </p:nvPr>
        </p:nvSpPr>
        <p:spPr/>
        <p:txBody>
          <a:bodyPr/>
          <a:lstStyle>
            <a:extLst/>
          </a:lstStyle>
          <a:p>
            <a:fld id="{1304F4FC-8AC4-4E61-916E-7CA7D284ECC3}" type="slidenum">
              <a:rPr lang="en-IN" smtClean="0"/>
              <a:pPr/>
              <a:t>‹#›</a:t>
            </a:fld>
            <a:endParaRPr lang="en-IN"/>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91A13A41-AA1E-4361-A9EC-893D555D34F8}" type="datetime1">
              <a:rPr lang="en-IN" smtClean="0"/>
              <a:t>31-01-2026</a:t>
            </a:fld>
            <a:endParaRPr lang="en-IN"/>
          </a:p>
        </p:txBody>
      </p:sp>
      <p:sp>
        <p:nvSpPr>
          <p:cNvPr id="5" name="Footer Placeholder 4"/>
          <p:cNvSpPr>
            <a:spLocks noGrp="1"/>
          </p:cNvSpPr>
          <p:nvPr>
            <p:ph type="ftr" sz="quarter" idx="11"/>
          </p:nvPr>
        </p:nvSpPr>
        <p:spPr/>
        <p:txBody>
          <a:bodyPr/>
          <a:lstStyle>
            <a:extLst/>
          </a:lstStyle>
          <a:p>
            <a:r>
              <a:rPr lang="en-US" smtClean="0"/>
              <a:t>Created By: Prof. Mital Goswami</a:t>
            </a:r>
            <a:endParaRPr lang="en-IN"/>
          </a:p>
        </p:txBody>
      </p:sp>
      <p:sp>
        <p:nvSpPr>
          <p:cNvPr id="6" name="Slide Number Placeholder 5"/>
          <p:cNvSpPr>
            <a:spLocks noGrp="1"/>
          </p:cNvSpPr>
          <p:nvPr>
            <p:ph type="sldNum" sz="quarter" idx="12"/>
          </p:nvPr>
        </p:nvSpPr>
        <p:spPr/>
        <p:txBody>
          <a:bodyPr/>
          <a:lstStyle>
            <a:extLst/>
          </a:lstStyle>
          <a:p>
            <a:fld id="{1304F4FC-8AC4-4E61-916E-7CA7D284ECC3}"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4D96A2E3-4FD5-4231-BA9D-0AEE83060017}" type="datetime1">
              <a:rPr lang="en-IN" smtClean="0"/>
              <a:t>31-01-2026</a:t>
            </a:fld>
            <a:endParaRPr lang="en-IN"/>
          </a:p>
        </p:txBody>
      </p:sp>
      <p:sp>
        <p:nvSpPr>
          <p:cNvPr id="5" name="Footer Placeholder 4"/>
          <p:cNvSpPr>
            <a:spLocks noGrp="1"/>
          </p:cNvSpPr>
          <p:nvPr>
            <p:ph type="ftr" sz="quarter" idx="11"/>
          </p:nvPr>
        </p:nvSpPr>
        <p:spPr/>
        <p:txBody>
          <a:bodyPr/>
          <a:lstStyle>
            <a:extLst/>
          </a:lstStyle>
          <a:p>
            <a:r>
              <a:rPr lang="en-US" smtClean="0"/>
              <a:t>Created By: Prof. Mital Goswami</a:t>
            </a:r>
            <a:endParaRPr lang="en-IN"/>
          </a:p>
        </p:txBody>
      </p:sp>
      <p:sp>
        <p:nvSpPr>
          <p:cNvPr id="6" name="Slide Number Placeholder 5"/>
          <p:cNvSpPr>
            <a:spLocks noGrp="1"/>
          </p:cNvSpPr>
          <p:nvPr>
            <p:ph type="sldNum" sz="quarter" idx="12"/>
          </p:nvPr>
        </p:nvSpPr>
        <p:spPr/>
        <p:txBody>
          <a:bodyPr/>
          <a:lstStyle>
            <a:extLst/>
          </a:lstStyle>
          <a:p>
            <a:fld id="{1304F4FC-8AC4-4E61-916E-7CA7D284ECC3}" type="slidenum">
              <a:rPr lang="en-IN" smtClean="0"/>
              <a:pPr/>
              <a:t>‹#›</a:t>
            </a:fld>
            <a:endParaRPr lang="en-IN"/>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B669CF79-4B76-4AFA-86C4-9F9B07D19121}" type="datetime1">
              <a:rPr lang="en-IN" smtClean="0"/>
              <a:t>31-01-2026</a:t>
            </a:fld>
            <a:endParaRPr lang="en-IN"/>
          </a:p>
        </p:txBody>
      </p:sp>
      <p:sp>
        <p:nvSpPr>
          <p:cNvPr id="6" name="Footer Placeholder 5"/>
          <p:cNvSpPr>
            <a:spLocks noGrp="1"/>
          </p:cNvSpPr>
          <p:nvPr>
            <p:ph type="ftr" sz="quarter" idx="11"/>
          </p:nvPr>
        </p:nvSpPr>
        <p:spPr/>
        <p:txBody>
          <a:bodyPr/>
          <a:lstStyle>
            <a:extLst/>
          </a:lstStyle>
          <a:p>
            <a:r>
              <a:rPr lang="en-US" smtClean="0"/>
              <a:t>Created By: Prof. Mital Goswami</a:t>
            </a:r>
            <a:endParaRPr lang="en-IN"/>
          </a:p>
        </p:txBody>
      </p:sp>
      <p:sp>
        <p:nvSpPr>
          <p:cNvPr id="7" name="Slide Number Placeholder 6"/>
          <p:cNvSpPr>
            <a:spLocks noGrp="1"/>
          </p:cNvSpPr>
          <p:nvPr>
            <p:ph type="sldNum" sz="quarter" idx="12"/>
          </p:nvPr>
        </p:nvSpPr>
        <p:spPr/>
        <p:txBody>
          <a:bodyPr/>
          <a:lstStyle>
            <a:extLst/>
          </a:lstStyle>
          <a:p>
            <a:fld id="{1304F4FC-8AC4-4E61-916E-7CA7D284ECC3}"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19A96947-39B8-4EB0-BCDB-D249FB4825C9}" type="datetime1">
              <a:rPr lang="en-IN" smtClean="0"/>
              <a:t>31-01-2026</a:t>
            </a:fld>
            <a:endParaRPr lang="en-IN"/>
          </a:p>
        </p:txBody>
      </p:sp>
      <p:sp>
        <p:nvSpPr>
          <p:cNvPr id="8" name="Footer Placeholder 7"/>
          <p:cNvSpPr>
            <a:spLocks noGrp="1"/>
          </p:cNvSpPr>
          <p:nvPr>
            <p:ph type="ftr" sz="quarter" idx="11"/>
          </p:nvPr>
        </p:nvSpPr>
        <p:spPr/>
        <p:txBody>
          <a:bodyPr/>
          <a:lstStyle>
            <a:extLst/>
          </a:lstStyle>
          <a:p>
            <a:r>
              <a:rPr lang="en-US" smtClean="0"/>
              <a:t>Created By: Prof. Mital Goswami</a:t>
            </a:r>
            <a:endParaRPr lang="en-IN"/>
          </a:p>
        </p:txBody>
      </p:sp>
      <p:sp>
        <p:nvSpPr>
          <p:cNvPr id="9" name="Slide Number Placeholder 8"/>
          <p:cNvSpPr>
            <a:spLocks noGrp="1"/>
          </p:cNvSpPr>
          <p:nvPr>
            <p:ph type="sldNum" sz="quarter" idx="12"/>
          </p:nvPr>
        </p:nvSpPr>
        <p:spPr/>
        <p:txBody>
          <a:bodyPr/>
          <a:lstStyle>
            <a:extLst/>
          </a:lstStyle>
          <a:p>
            <a:fld id="{1304F4FC-8AC4-4E61-916E-7CA7D284ECC3}"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2F789C8D-0637-4AA6-9166-B5AD13AADB7A}" type="datetime1">
              <a:rPr lang="en-IN" smtClean="0"/>
              <a:t>31-01-2026</a:t>
            </a:fld>
            <a:endParaRPr lang="en-IN"/>
          </a:p>
        </p:txBody>
      </p:sp>
      <p:sp>
        <p:nvSpPr>
          <p:cNvPr id="4" name="Footer Placeholder 3"/>
          <p:cNvSpPr>
            <a:spLocks noGrp="1"/>
          </p:cNvSpPr>
          <p:nvPr>
            <p:ph type="ftr" sz="quarter" idx="11"/>
          </p:nvPr>
        </p:nvSpPr>
        <p:spPr/>
        <p:txBody>
          <a:bodyPr/>
          <a:lstStyle>
            <a:extLst/>
          </a:lstStyle>
          <a:p>
            <a:r>
              <a:rPr lang="en-US" smtClean="0"/>
              <a:t>Created By: Prof. Mital Goswami</a:t>
            </a:r>
            <a:endParaRPr lang="en-IN"/>
          </a:p>
        </p:txBody>
      </p:sp>
      <p:sp>
        <p:nvSpPr>
          <p:cNvPr id="5" name="Slide Number Placeholder 4"/>
          <p:cNvSpPr>
            <a:spLocks noGrp="1"/>
          </p:cNvSpPr>
          <p:nvPr>
            <p:ph type="sldNum" sz="quarter" idx="12"/>
          </p:nvPr>
        </p:nvSpPr>
        <p:spPr/>
        <p:txBody>
          <a:bodyPr/>
          <a:lstStyle>
            <a:extLst/>
          </a:lstStyle>
          <a:p>
            <a:fld id="{1304F4FC-8AC4-4E61-916E-7CA7D284ECC3}"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6148642E-1FCC-480E-8798-0A8DE51EA3B8}" type="datetime1">
              <a:rPr lang="en-IN" smtClean="0"/>
              <a:t>31-01-2026</a:t>
            </a:fld>
            <a:endParaRPr lang="en-IN"/>
          </a:p>
        </p:txBody>
      </p:sp>
      <p:sp>
        <p:nvSpPr>
          <p:cNvPr id="3" name="Footer Placeholder 2"/>
          <p:cNvSpPr>
            <a:spLocks noGrp="1"/>
          </p:cNvSpPr>
          <p:nvPr>
            <p:ph type="ftr" sz="quarter" idx="11"/>
          </p:nvPr>
        </p:nvSpPr>
        <p:spPr/>
        <p:txBody>
          <a:bodyPr/>
          <a:lstStyle>
            <a:extLst/>
          </a:lstStyle>
          <a:p>
            <a:r>
              <a:rPr lang="en-US" smtClean="0"/>
              <a:t>Created By: Prof. Mital Goswami</a:t>
            </a:r>
            <a:endParaRPr lang="en-IN"/>
          </a:p>
        </p:txBody>
      </p:sp>
      <p:sp>
        <p:nvSpPr>
          <p:cNvPr id="4" name="Slide Number Placeholder 3"/>
          <p:cNvSpPr>
            <a:spLocks noGrp="1"/>
          </p:cNvSpPr>
          <p:nvPr>
            <p:ph type="sldNum" sz="quarter" idx="12"/>
          </p:nvPr>
        </p:nvSpPr>
        <p:spPr/>
        <p:txBody>
          <a:bodyPr/>
          <a:lstStyle>
            <a:extLst/>
          </a:lstStyle>
          <a:p>
            <a:fld id="{1304F4FC-8AC4-4E61-916E-7CA7D284ECC3}" type="slidenum">
              <a:rPr lang="en-IN" smtClean="0"/>
              <a:pPr/>
              <a:t>‹#›</a:t>
            </a:fld>
            <a:endParaRPr lang="en-IN"/>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E8AD3EFF-9AE6-4A9C-9478-FC1778F097C5}" type="datetime1">
              <a:rPr lang="en-IN" smtClean="0"/>
              <a:t>31-01-2026</a:t>
            </a:fld>
            <a:endParaRPr lang="en-IN"/>
          </a:p>
        </p:txBody>
      </p:sp>
      <p:sp>
        <p:nvSpPr>
          <p:cNvPr id="6" name="Footer Placeholder 5"/>
          <p:cNvSpPr>
            <a:spLocks noGrp="1"/>
          </p:cNvSpPr>
          <p:nvPr>
            <p:ph type="ftr" sz="quarter" idx="11"/>
          </p:nvPr>
        </p:nvSpPr>
        <p:spPr/>
        <p:txBody>
          <a:bodyPr/>
          <a:lstStyle>
            <a:extLst/>
          </a:lstStyle>
          <a:p>
            <a:r>
              <a:rPr lang="en-US" smtClean="0"/>
              <a:t>Created By: Prof. Mital Goswami</a:t>
            </a:r>
            <a:endParaRPr lang="en-IN"/>
          </a:p>
        </p:txBody>
      </p:sp>
      <p:sp>
        <p:nvSpPr>
          <p:cNvPr id="7" name="Slide Number Placeholder 6"/>
          <p:cNvSpPr>
            <a:spLocks noGrp="1"/>
          </p:cNvSpPr>
          <p:nvPr>
            <p:ph type="sldNum" sz="quarter" idx="12"/>
          </p:nvPr>
        </p:nvSpPr>
        <p:spPr/>
        <p:txBody>
          <a:bodyPr/>
          <a:lstStyle>
            <a:extLst/>
          </a:lstStyle>
          <a:p>
            <a:fld id="{1304F4FC-8AC4-4E61-916E-7CA7D284ECC3}"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fld id="{13507C10-7AD3-4B0A-BC97-2807AD46DC58}" type="datetime1">
              <a:rPr lang="en-IN" smtClean="0"/>
              <a:t>31-01-2026</a:t>
            </a:fld>
            <a:endParaRPr lang="en-IN"/>
          </a:p>
        </p:txBody>
      </p:sp>
      <p:sp>
        <p:nvSpPr>
          <p:cNvPr id="6" name="Footer Placeholder 5"/>
          <p:cNvSpPr>
            <a:spLocks noGrp="1"/>
          </p:cNvSpPr>
          <p:nvPr>
            <p:ph type="ftr" sz="quarter" idx="11"/>
          </p:nvPr>
        </p:nvSpPr>
        <p:spPr/>
        <p:txBody>
          <a:bodyPr/>
          <a:lstStyle>
            <a:extLst/>
          </a:lstStyle>
          <a:p>
            <a:r>
              <a:rPr lang="en-US" smtClean="0"/>
              <a:t>Created By: Prof. Mital Goswami</a:t>
            </a:r>
            <a:endParaRPr lang="en-IN"/>
          </a:p>
        </p:txBody>
      </p:sp>
      <p:sp>
        <p:nvSpPr>
          <p:cNvPr id="7" name="Slide Number Placeholder 6"/>
          <p:cNvSpPr>
            <a:spLocks noGrp="1"/>
          </p:cNvSpPr>
          <p:nvPr>
            <p:ph type="sldNum" sz="quarter" idx="12"/>
          </p:nvPr>
        </p:nvSpPr>
        <p:spPr/>
        <p:txBody>
          <a:bodyPr/>
          <a:lstStyle>
            <a:extLst/>
          </a:lstStyle>
          <a:p>
            <a:fld id="{1304F4FC-8AC4-4E61-916E-7CA7D284ECC3}" type="slidenum">
              <a:rPr lang="en-IN" smtClean="0"/>
              <a:pPr/>
              <a:t>‹#›</a:t>
            </a:fld>
            <a:endParaRPr lang="en-IN"/>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2BBBBD4-40D3-460D-9A82-BDF6972E4393}" type="datetime1">
              <a:rPr lang="en-IN" smtClean="0"/>
              <a:t>31-01-2026</a:t>
            </a:fld>
            <a:endParaRPr lang="en-IN"/>
          </a:p>
        </p:txBody>
      </p:sp>
      <p:sp>
        <p:nvSpPr>
          <p:cNvPr id="5" name="Footer Placeholder 4"/>
          <p:cNvSpPr>
            <a:spLocks noGrp="1"/>
          </p:cNvSpPr>
          <p:nvPr>
            <p:ph type="ftr" sz="quarter" idx="11"/>
          </p:nvPr>
        </p:nvSpPr>
        <p:spPr/>
        <p:txBody>
          <a:bodyPr/>
          <a:lstStyle>
            <a:extLst/>
          </a:lstStyle>
          <a:p>
            <a:r>
              <a:rPr lang="en-US" smtClean="0"/>
              <a:t>Created By: Prof. Mital Goswami</a:t>
            </a:r>
            <a:endParaRPr lang="en-IN"/>
          </a:p>
        </p:txBody>
      </p:sp>
      <p:sp>
        <p:nvSpPr>
          <p:cNvPr id="6" name="Slide Number Placeholder 5"/>
          <p:cNvSpPr>
            <a:spLocks noGrp="1"/>
          </p:cNvSpPr>
          <p:nvPr>
            <p:ph type="sldNum" sz="quarter" idx="12"/>
          </p:nvPr>
        </p:nvSpPr>
        <p:spPr/>
        <p:txBody>
          <a:bodyPr/>
          <a:lstStyle>
            <a:extLst/>
          </a:lstStyle>
          <a:p>
            <a:fld id="{1304F4FC-8AC4-4E61-916E-7CA7D284ECC3}"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234DBCC7-16B2-4221-9102-E31B491C237F}" type="datetime1">
              <a:rPr lang="en-IN" smtClean="0"/>
              <a:t>31-01-2026</a:t>
            </a:fld>
            <a:endParaRPr lang="en-IN"/>
          </a:p>
        </p:txBody>
      </p:sp>
      <p:sp>
        <p:nvSpPr>
          <p:cNvPr id="5" name="Footer Placeholder 4"/>
          <p:cNvSpPr>
            <a:spLocks noGrp="1"/>
          </p:cNvSpPr>
          <p:nvPr>
            <p:ph type="ftr" sz="quarter" idx="11"/>
          </p:nvPr>
        </p:nvSpPr>
        <p:spPr/>
        <p:txBody>
          <a:bodyPr/>
          <a:lstStyle>
            <a:extLst/>
          </a:lstStyle>
          <a:p>
            <a:r>
              <a:rPr lang="en-US" smtClean="0"/>
              <a:t>Created By: Prof. Mital Goswami</a:t>
            </a:r>
            <a:endParaRPr lang="en-IN"/>
          </a:p>
        </p:txBody>
      </p:sp>
      <p:sp>
        <p:nvSpPr>
          <p:cNvPr id="6" name="Slide Number Placeholder 5"/>
          <p:cNvSpPr>
            <a:spLocks noGrp="1"/>
          </p:cNvSpPr>
          <p:nvPr>
            <p:ph type="sldNum" sz="quarter" idx="12"/>
          </p:nvPr>
        </p:nvSpPr>
        <p:spPr/>
        <p:txBody>
          <a:bodyPr/>
          <a:lstStyle>
            <a:extLst/>
          </a:lstStyle>
          <a:p>
            <a:fld id="{1304F4FC-8AC4-4E61-916E-7CA7D284ECC3}"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F17A89D5-93AB-4135-8455-66AAA05A1A52}" type="datetime1">
              <a:rPr lang="en-IN" smtClean="0"/>
              <a:t>31-01-2026</a:t>
            </a:fld>
            <a:endParaRPr lang="en-IN"/>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r>
              <a:rPr lang="en-US" smtClean="0"/>
              <a:t>Created By: Prof. Mital Goswami</a:t>
            </a:r>
            <a:endParaRPr lang="en-IN"/>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1304F4FC-8AC4-4E61-916E-7CA7D284ECC3}" type="slidenum">
              <a:rPr lang="en-IN" smtClean="0"/>
              <a:pPr/>
              <a:t>‹#›</a:t>
            </a:fld>
            <a:endParaRPr lang="en-IN"/>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sldNum="0" hdr="0" dt="0"/>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32560" y="2388864"/>
            <a:ext cx="7406640" cy="1472184"/>
          </a:xfrm>
        </p:spPr>
        <p:txBody>
          <a:bodyPr>
            <a:normAutofit/>
          </a:bodyPr>
          <a:lstStyle/>
          <a:p>
            <a:r>
              <a:rPr lang="en-IN" sz="5400" dirty="0" smtClean="0"/>
              <a:t>UNIX Commands</a:t>
            </a:r>
            <a:endParaRPr lang="en-IN" sz="5400" dirty="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44624"/>
            <a:ext cx="7488832" cy="812303"/>
          </a:xfrm>
        </p:spPr>
        <p:txBody>
          <a:bodyPr/>
          <a:lstStyle/>
          <a:p>
            <a:r>
              <a:rPr lang="en-IN" dirty="0" smtClean="0"/>
              <a:t>Login Commands</a:t>
            </a:r>
            <a:endParaRPr lang="en-IN" dirty="0"/>
          </a:p>
        </p:txBody>
      </p:sp>
      <p:sp>
        <p:nvSpPr>
          <p:cNvPr id="5" name="TextBox 4"/>
          <p:cNvSpPr txBox="1"/>
          <p:nvPr/>
        </p:nvSpPr>
        <p:spPr>
          <a:xfrm>
            <a:off x="1403648" y="1412776"/>
            <a:ext cx="7272808" cy="4524315"/>
          </a:xfrm>
          <a:prstGeom prst="rect">
            <a:avLst/>
          </a:prstGeom>
          <a:noFill/>
        </p:spPr>
        <p:txBody>
          <a:bodyPr wrap="square" rtlCol="0">
            <a:spAutoFit/>
          </a:bodyPr>
          <a:lstStyle/>
          <a:p>
            <a:pPr>
              <a:lnSpc>
                <a:spcPct val="200000"/>
              </a:lnSpc>
            </a:pPr>
            <a:r>
              <a:rPr lang="en-IN" sz="2400" dirty="0" err="1" smtClean="0"/>
              <a:t>passwd</a:t>
            </a:r>
            <a:endParaRPr lang="en-IN" sz="2400" dirty="0" smtClean="0"/>
          </a:p>
          <a:p>
            <a:pPr>
              <a:lnSpc>
                <a:spcPct val="200000"/>
              </a:lnSpc>
            </a:pPr>
            <a:r>
              <a:rPr lang="en-IN" sz="2400" dirty="0" smtClean="0"/>
              <a:t>logout</a:t>
            </a:r>
          </a:p>
          <a:p>
            <a:pPr>
              <a:lnSpc>
                <a:spcPct val="200000"/>
              </a:lnSpc>
            </a:pPr>
            <a:r>
              <a:rPr lang="en-IN" sz="2400" dirty="0" smtClean="0"/>
              <a:t>who</a:t>
            </a:r>
          </a:p>
          <a:p>
            <a:pPr>
              <a:lnSpc>
                <a:spcPct val="200000"/>
              </a:lnSpc>
            </a:pPr>
            <a:r>
              <a:rPr lang="en-IN" sz="2400" dirty="0" smtClean="0"/>
              <a:t>who am I</a:t>
            </a:r>
          </a:p>
          <a:p>
            <a:pPr>
              <a:lnSpc>
                <a:spcPct val="200000"/>
              </a:lnSpc>
            </a:pPr>
            <a:r>
              <a:rPr lang="en-US" sz="2400" dirty="0" err="1" smtClean="0"/>
              <a:t>uname</a:t>
            </a:r>
            <a:endParaRPr lang="en-IN" sz="2400" dirty="0" smtClean="0"/>
          </a:p>
          <a:p>
            <a:pPr>
              <a:lnSpc>
                <a:spcPct val="200000"/>
              </a:lnSpc>
            </a:pPr>
            <a:r>
              <a:rPr lang="en-IN" sz="2400" dirty="0" smtClean="0"/>
              <a:t>clear</a:t>
            </a:r>
            <a:endParaRPr lang="en-IN" sz="2400" dirty="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44624"/>
            <a:ext cx="7488832" cy="812303"/>
          </a:xfrm>
        </p:spPr>
        <p:txBody>
          <a:bodyPr/>
          <a:lstStyle/>
          <a:p>
            <a:r>
              <a:rPr lang="en-IN" dirty="0" smtClean="0"/>
              <a:t>Login Commands</a:t>
            </a:r>
            <a:endParaRPr lang="en-IN" dirty="0"/>
          </a:p>
        </p:txBody>
      </p:sp>
      <p:sp>
        <p:nvSpPr>
          <p:cNvPr id="5" name="TextBox 4"/>
          <p:cNvSpPr txBox="1"/>
          <p:nvPr/>
        </p:nvSpPr>
        <p:spPr>
          <a:xfrm>
            <a:off x="1331640" y="941819"/>
            <a:ext cx="7272808" cy="5386090"/>
          </a:xfrm>
          <a:prstGeom prst="rect">
            <a:avLst/>
          </a:prstGeom>
          <a:noFill/>
        </p:spPr>
        <p:txBody>
          <a:bodyPr wrap="square" rtlCol="0">
            <a:spAutoFit/>
          </a:bodyPr>
          <a:lstStyle/>
          <a:p>
            <a:pPr>
              <a:lnSpc>
                <a:spcPct val="200000"/>
              </a:lnSpc>
            </a:pPr>
            <a:r>
              <a:rPr lang="en-IN" sz="2800" b="1" dirty="0" err="1" smtClean="0"/>
              <a:t>Passwd</a:t>
            </a:r>
            <a:endParaRPr lang="en-IN" sz="2800" b="1" dirty="0" smtClean="0"/>
          </a:p>
          <a:p>
            <a:pPr algn="just"/>
            <a:r>
              <a:rPr lang="en-IN" sz="2400" dirty="0" smtClean="0"/>
              <a:t>The </a:t>
            </a:r>
            <a:r>
              <a:rPr lang="en-IN" sz="2400" b="1" dirty="0" err="1" smtClean="0"/>
              <a:t>passwd</a:t>
            </a:r>
            <a:r>
              <a:rPr lang="en-IN" sz="2400" b="1" dirty="0" smtClean="0"/>
              <a:t> </a:t>
            </a:r>
            <a:r>
              <a:rPr lang="en-IN" sz="2400" dirty="0" smtClean="0"/>
              <a:t>command changes passwords for user accounts. A normal user may only change the password for his/her own account, while the </a:t>
            </a:r>
            <a:r>
              <a:rPr lang="en-IN" sz="2400" dirty="0" err="1" smtClean="0"/>
              <a:t>superuser</a:t>
            </a:r>
            <a:r>
              <a:rPr lang="en-IN" sz="2400" dirty="0" smtClean="0"/>
              <a:t> may change the password for any account.</a:t>
            </a:r>
          </a:p>
          <a:p>
            <a:pPr algn="just"/>
            <a:endParaRPr lang="en-IN" sz="2400" dirty="0" smtClean="0"/>
          </a:p>
          <a:p>
            <a:pPr algn="just"/>
            <a:r>
              <a:rPr lang="en-IN" sz="2400" b="1" dirty="0" smtClean="0"/>
              <a:t>OPTIONS</a:t>
            </a:r>
          </a:p>
          <a:p>
            <a:pPr algn="just"/>
            <a:r>
              <a:rPr lang="en-IN" sz="2400" b="1" dirty="0" smtClean="0"/>
              <a:t>-d, --delete</a:t>
            </a:r>
          </a:p>
          <a:p>
            <a:pPr algn="just"/>
            <a:r>
              <a:rPr lang="en-IN" sz="2400" dirty="0" smtClean="0"/>
              <a:t>Delete a user's password (make it empty).</a:t>
            </a:r>
          </a:p>
          <a:p>
            <a:pPr algn="just"/>
            <a:r>
              <a:rPr lang="en-IN" sz="2400" b="1" dirty="0" smtClean="0"/>
              <a:t>-e, --expire</a:t>
            </a:r>
          </a:p>
          <a:p>
            <a:pPr algn="just"/>
            <a:r>
              <a:rPr lang="en-IN" sz="2400" dirty="0" smtClean="0"/>
              <a:t>Immediately expire an account's password.</a:t>
            </a:r>
          </a:p>
          <a:p>
            <a:pPr algn="just"/>
            <a:r>
              <a:rPr lang="en-IN" sz="2400" b="1" dirty="0" smtClean="0"/>
              <a:t>-l, --lock</a:t>
            </a:r>
          </a:p>
          <a:p>
            <a:pPr algn="just"/>
            <a:r>
              <a:rPr lang="en-IN" sz="2400" dirty="0" smtClean="0"/>
              <a:t>Lock the password of the named account.</a:t>
            </a:r>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44624"/>
            <a:ext cx="7488832" cy="812303"/>
          </a:xfrm>
        </p:spPr>
        <p:txBody>
          <a:bodyPr/>
          <a:lstStyle/>
          <a:p>
            <a:r>
              <a:rPr lang="en-IN" dirty="0" smtClean="0"/>
              <a:t>Login Commands</a:t>
            </a:r>
            <a:endParaRPr lang="en-IN" dirty="0"/>
          </a:p>
        </p:txBody>
      </p:sp>
      <p:sp>
        <p:nvSpPr>
          <p:cNvPr id="5" name="TextBox 4"/>
          <p:cNvSpPr txBox="1"/>
          <p:nvPr/>
        </p:nvSpPr>
        <p:spPr>
          <a:xfrm>
            <a:off x="1331640" y="941819"/>
            <a:ext cx="7272808" cy="5262979"/>
          </a:xfrm>
          <a:prstGeom prst="rect">
            <a:avLst/>
          </a:prstGeom>
          <a:noFill/>
        </p:spPr>
        <p:txBody>
          <a:bodyPr wrap="square" rtlCol="0">
            <a:spAutoFit/>
          </a:bodyPr>
          <a:lstStyle/>
          <a:p>
            <a:r>
              <a:rPr lang="en-IN" sz="2400" b="1" dirty="0" smtClean="0"/>
              <a:t>-u, --unlock</a:t>
            </a:r>
          </a:p>
          <a:p>
            <a:r>
              <a:rPr lang="en-IN" sz="2400" dirty="0" smtClean="0"/>
              <a:t>Unlock the password of the named account.</a:t>
            </a:r>
          </a:p>
          <a:p>
            <a:endParaRPr lang="en-IN" sz="2400" dirty="0" smtClean="0"/>
          </a:p>
          <a:p>
            <a:r>
              <a:rPr lang="en-IN" sz="2400" b="1" dirty="0" smtClean="0"/>
              <a:t>Example :</a:t>
            </a:r>
            <a:endParaRPr lang="en-IN" sz="2400" dirty="0" smtClean="0"/>
          </a:p>
          <a:p>
            <a:r>
              <a:rPr lang="en-IN" sz="2400" dirty="0" smtClean="0"/>
              <a:t>Change your own password:</a:t>
            </a:r>
          </a:p>
          <a:p>
            <a:r>
              <a:rPr lang="en-IN" sz="2400" dirty="0" smtClean="0"/>
              <a:t>$ </a:t>
            </a:r>
            <a:r>
              <a:rPr lang="en-IN" sz="2400" dirty="0" err="1" smtClean="0"/>
              <a:t>passwd</a:t>
            </a:r>
            <a:endParaRPr lang="en-IN" sz="2400" dirty="0" smtClean="0"/>
          </a:p>
          <a:p>
            <a:endParaRPr lang="en-IN" sz="2400" i="1" dirty="0" smtClean="0"/>
          </a:p>
          <a:p>
            <a:r>
              <a:rPr lang="en-IN" sz="2400" i="1" dirty="0" smtClean="0"/>
              <a:t>output:</a:t>
            </a:r>
            <a:endParaRPr lang="en-IN" sz="2400" dirty="0" smtClean="0"/>
          </a:p>
          <a:p>
            <a:r>
              <a:rPr lang="en-IN" sz="2400" dirty="0" smtClean="0"/>
              <a:t>$ </a:t>
            </a:r>
            <a:r>
              <a:rPr lang="en-IN" sz="2400" dirty="0" err="1" smtClean="0"/>
              <a:t>passwd</a:t>
            </a:r>
            <a:r>
              <a:rPr lang="en-IN" sz="2400" dirty="0" smtClean="0"/>
              <a:t/>
            </a:r>
            <a:br>
              <a:rPr lang="en-IN" sz="2400" dirty="0" smtClean="0"/>
            </a:br>
            <a:r>
              <a:rPr lang="en-IN" sz="2400" dirty="0" smtClean="0"/>
              <a:t>Changing password for </a:t>
            </a:r>
            <a:r>
              <a:rPr lang="en-IN" sz="2400" dirty="0" err="1" smtClean="0"/>
              <a:t>ubuntu</a:t>
            </a:r>
            <a:r>
              <a:rPr lang="en-IN" sz="2400" dirty="0" smtClean="0"/>
              <a:t>.</a:t>
            </a:r>
            <a:br>
              <a:rPr lang="en-IN" sz="2400" dirty="0" smtClean="0"/>
            </a:br>
            <a:r>
              <a:rPr lang="en-IN" sz="2400" dirty="0" smtClean="0"/>
              <a:t>(current) UNIX password:</a:t>
            </a:r>
            <a:br>
              <a:rPr lang="en-IN" sz="2400" dirty="0" smtClean="0"/>
            </a:br>
            <a:r>
              <a:rPr lang="en-IN" sz="2400" dirty="0" smtClean="0"/>
              <a:t>Enter new UNIX password:</a:t>
            </a:r>
            <a:br>
              <a:rPr lang="en-IN" sz="2400" dirty="0" smtClean="0"/>
            </a:br>
            <a:r>
              <a:rPr lang="en-IN" sz="2400" dirty="0" smtClean="0"/>
              <a:t>Retype new UNIX password:</a:t>
            </a:r>
            <a:br>
              <a:rPr lang="en-IN" sz="2400" dirty="0" smtClean="0"/>
            </a:br>
            <a:r>
              <a:rPr lang="en-IN" sz="2400" dirty="0" err="1" smtClean="0"/>
              <a:t>passwd</a:t>
            </a:r>
            <a:r>
              <a:rPr lang="en-IN" sz="2400" dirty="0" smtClean="0"/>
              <a:t>: password updated successfully</a:t>
            </a:r>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44624"/>
            <a:ext cx="7488832" cy="812303"/>
          </a:xfrm>
        </p:spPr>
        <p:txBody>
          <a:bodyPr/>
          <a:lstStyle/>
          <a:p>
            <a:r>
              <a:rPr lang="en-IN" dirty="0" smtClean="0"/>
              <a:t>Login Commands</a:t>
            </a:r>
            <a:endParaRPr lang="en-IN" dirty="0"/>
          </a:p>
        </p:txBody>
      </p:sp>
      <p:sp>
        <p:nvSpPr>
          <p:cNvPr id="5" name="TextBox 4"/>
          <p:cNvSpPr txBox="1"/>
          <p:nvPr/>
        </p:nvSpPr>
        <p:spPr>
          <a:xfrm>
            <a:off x="1331640" y="941819"/>
            <a:ext cx="7272808" cy="5632311"/>
          </a:xfrm>
          <a:prstGeom prst="rect">
            <a:avLst/>
          </a:prstGeom>
          <a:noFill/>
        </p:spPr>
        <p:txBody>
          <a:bodyPr wrap="square" rtlCol="0">
            <a:spAutoFit/>
          </a:bodyPr>
          <a:lstStyle/>
          <a:p>
            <a:r>
              <a:rPr lang="en-IN" sz="2400" b="1" dirty="0" smtClean="0"/>
              <a:t>logout</a:t>
            </a:r>
          </a:p>
          <a:p>
            <a:r>
              <a:rPr lang="en-IN" sz="2400" b="1" dirty="0" smtClean="0"/>
              <a:t>logout</a:t>
            </a:r>
            <a:r>
              <a:rPr lang="en-IN" sz="2400" dirty="0" smtClean="0"/>
              <a:t> command allows you to programmatically logout from your session. causes the session manager to take the requested action immediately.</a:t>
            </a:r>
          </a:p>
          <a:p>
            <a:r>
              <a:rPr lang="en-US" sz="2400" dirty="0"/>
              <a:t>For logout `exit` OR `logout` OR `bye` command is used</a:t>
            </a:r>
            <a:r>
              <a:rPr lang="en-IN" sz="2400" dirty="0" smtClean="0"/>
              <a:t/>
            </a:r>
            <a:br>
              <a:rPr lang="en-IN" sz="2400" dirty="0" smtClean="0"/>
            </a:br>
            <a:endParaRPr lang="en-IN" sz="2400" dirty="0" smtClean="0"/>
          </a:p>
          <a:p>
            <a:r>
              <a:rPr lang="en-IN" sz="2400" b="1" dirty="0" smtClean="0"/>
              <a:t>EXAMPLES</a:t>
            </a:r>
          </a:p>
          <a:p>
            <a:r>
              <a:rPr lang="en-IN" sz="2400" b="1" dirty="0" smtClean="0"/>
              <a:t>Example:</a:t>
            </a:r>
            <a:endParaRPr lang="en-IN" sz="2400" dirty="0" smtClean="0"/>
          </a:p>
          <a:p>
            <a:r>
              <a:rPr lang="en-IN" sz="2400" dirty="0" smtClean="0"/>
              <a:t>To logout from current user session:</a:t>
            </a:r>
          </a:p>
          <a:p>
            <a:r>
              <a:rPr lang="en-IN" sz="2400" dirty="0" smtClean="0"/>
              <a:t>$ logout</a:t>
            </a:r>
          </a:p>
          <a:p>
            <a:endParaRPr lang="en-IN" sz="2400" dirty="0" smtClean="0"/>
          </a:p>
          <a:p>
            <a:r>
              <a:rPr lang="en-IN" sz="2400" i="1" dirty="0" smtClean="0"/>
              <a:t>output:</a:t>
            </a:r>
            <a:endParaRPr lang="en-IN" sz="2400" dirty="0" smtClean="0"/>
          </a:p>
          <a:p>
            <a:r>
              <a:rPr lang="en-IN" sz="2400" dirty="0" smtClean="0"/>
              <a:t>no output on screen, current user session will be logged out.</a:t>
            </a:r>
          </a:p>
          <a:p>
            <a:endParaRPr lang="en-IN" sz="2400" dirty="0" smtClean="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44624"/>
            <a:ext cx="7488832" cy="812303"/>
          </a:xfrm>
        </p:spPr>
        <p:txBody>
          <a:bodyPr/>
          <a:lstStyle/>
          <a:p>
            <a:r>
              <a:rPr lang="en-IN" dirty="0" smtClean="0"/>
              <a:t>Login Commands</a:t>
            </a:r>
            <a:endParaRPr lang="en-IN" dirty="0"/>
          </a:p>
        </p:txBody>
      </p:sp>
      <p:sp>
        <p:nvSpPr>
          <p:cNvPr id="5" name="TextBox 4"/>
          <p:cNvSpPr txBox="1"/>
          <p:nvPr/>
        </p:nvSpPr>
        <p:spPr>
          <a:xfrm>
            <a:off x="1331640" y="941819"/>
            <a:ext cx="7272808" cy="4154984"/>
          </a:xfrm>
          <a:prstGeom prst="rect">
            <a:avLst/>
          </a:prstGeom>
          <a:noFill/>
        </p:spPr>
        <p:txBody>
          <a:bodyPr wrap="square" rtlCol="0">
            <a:spAutoFit/>
          </a:bodyPr>
          <a:lstStyle/>
          <a:p>
            <a:r>
              <a:rPr lang="en-IN" sz="2400" b="1" dirty="0" smtClean="0"/>
              <a:t>who</a:t>
            </a:r>
          </a:p>
          <a:p>
            <a:r>
              <a:rPr lang="en-IN" sz="2400" dirty="0" smtClean="0"/>
              <a:t>who - show who is logged on</a:t>
            </a:r>
          </a:p>
          <a:p>
            <a:endParaRPr lang="en-IN" sz="2400" dirty="0" smtClean="0"/>
          </a:p>
          <a:p>
            <a:pPr algn="just"/>
            <a:r>
              <a:rPr lang="en-IN" sz="2400" b="1" dirty="0" smtClean="0"/>
              <a:t>OPTIONS</a:t>
            </a:r>
          </a:p>
          <a:p>
            <a:pPr algn="just"/>
            <a:r>
              <a:rPr lang="en-IN" sz="2400" b="1" dirty="0" smtClean="0"/>
              <a:t>-l</a:t>
            </a:r>
            <a:r>
              <a:rPr lang="en-IN" sz="2400" dirty="0" smtClean="0"/>
              <a:t>, </a:t>
            </a:r>
            <a:r>
              <a:rPr lang="en-IN" sz="2400" b="1" dirty="0" smtClean="0"/>
              <a:t>--login</a:t>
            </a:r>
          </a:p>
          <a:p>
            <a:pPr algn="just"/>
            <a:r>
              <a:rPr lang="en-IN" sz="2400" dirty="0" smtClean="0"/>
              <a:t>print system login processes </a:t>
            </a:r>
            <a:endParaRPr lang="en-IN" sz="2400" b="1" dirty="0" smtClean="0"/>
          </a:p>
          <a:p>
            <a:pPr algn="just"/>
            <a:r>
              <a:rPr lang="en-IN" sz="2400" b="1" dirty="0" smtClean="0"/>
              <a:t>-q</a:t>
            </a:r>
            <a:r>
              <a:rPr lang="en-IN" sz="2400" dirty="0" smtClean="0"/>
              <a:t>, </a:t>
            </a:r>
            <a:r>
              <a:rPr lang="en-IN" sz="2400" b="1" dirty="0" smtClean="0"/>
              <a:t>--count</a:t>
            </a:r>
          </a:p>
          <a:p>
            <a:pPr algn="just"/>
            <a:r>
              <a:rPr lang="en-IN" sz="2400" dirty="0" smtClean="0"/>
              <a:t>all login names and number of users logged on</a:t>
            </a:r>
          </a:p>
          <a:p>
            <a:pPr algn="just"/>
            <a:r>
              <a:rPr lang="en-IN" sz="2400" b="1" dirty="0" smtClean="0"/>
              <a:t>-u</a:t>
            </a:r>
            <a:r>
              <a:rPr lang="en-IN" sz="2400" dirty="0" smtClean="0"/>
              <a:t>, </a:t>
            </a:r>
            <a:r>
              <a:rPr lang="en-IN" sz="2400" b="1" dirty="0" smtClean="0"/>
              <a:t>--users</a:t>
            </a:r>
          </a:p>
          <a:p>
            <a:pPr algn="just"/>
            <a:r>
              <a:rPr lang="en-IN" sz="2400" dirty="0" smtClean="0"/>
              <a:t>list users logged in  </a:t>
            </a:r>
          </a:p>
          <a:p>
            <a:pPr algn="just"/>
            <a:r>
              <a:rPr lang="en-IN" sz="2400" b="1" dirty="0"/>
              <a:t>-a </a:t>
            </a:r>
            <a:r>
              <a:rPr lang="en-IN" sz="2400" dirty="0"/>
              <a:t>Display All Users</a:t>
            </a:r>
            <a:endParaRPr lang="en-IN" sz="2400" b="1" dirty="0" smtClean="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44624"/>
            <a:ext cx="7488832" cy="812303"/>
          </a:xfrm>
        </p:spPr>
        <p:txBody>
          <a:bodyPr/>
          <a:lstStyle/>
          <a:p>
            <a:r>
              <a:rPr lang="en-IN" dirty="0" smtClean="0"/>
              <a:t>Login Commands</a:t>
            </a:r>
            <a:endParaRPr lang="en-IN" dirty="0"/>
          </a:p>
        </p:txBody>
      </p:sp>
      <p:sp>
        <p:nvSpPr>
          <p:cNvPr id="5" name="TextBox 4"/>
          <p:cNvSpPr txBox="1"/>
          <p:nvPr/>
        </p:nvSpPr>
        <p:spPr>
          <a:xfrm>
            <a:off x="1331640" y="941819"/>
            <a:ext cx="7272808" cy="4893647"/>
          </a:xfrm>
          <a:prstGeom prst="rect">
            <a:avLst/>
          </a:prstGeom>
          <a:noFill/>
        </p:spPr>
        <p:txBody>
          <a:bodyPr wrap="square" rtlCol="0">
            <a:spAutoFit/>
          </a:bodyPr>
          <a:lstStyle/>
          <a:p>
            <a:r>
              <a:rPr lang="en-IN" sz="2400" b="1" dirty="0" err="1" smtClean="0"/>
              <a:t>whoami</a:t>
            </a:r>
            <a:endParaRPr lang="en-IN" sz="2400" b="1" dirty="0" smtClean="0"/>
          </a:p>
          <a:p>
            <a:r>
              <a:rPr lang="en-IN" sz="2400" b="1" dirty="0" err="1" smtClean="0"/>
              <a:t>whoami</a:t>
            </a:r>
            <a:r>
              <a:rPr lang="en-IN" sz="2400" dirty="0" smtClean="0"/>
              <a:t> prints the effective user ID.</a:t>
            </a:r>
          </a:p>
          <a:p>
            <a:r>
              <a:rPr lang="en-IN" sz="2400" dirty="0" smtClean="0"/>
              <a:t>This command prints the username associated with the current effective user ID.</a:t>
            </a:r>
          </a:p>
          <a:p>
            <a:endParaRPr lang="en-IN" sz="2400" dirty="0" smtClean="0"/>
          </a:p>
          <a:p>
            <a:r>
              <a:rPr lang="en-IN" sz="2400" b="1" dirty="0" smtClean="0"/>
              <a:t>syntax</a:t>
            </a:r>
          </a:p>
          <a:p>
            <a:r>
              <a:rPr lang="en-IN" sz="2400" dirty="0" err="1" smtClean="0"/>
              <a:t>whoami</a:t>
            </a:r>
            <a:r>
              <a:rPr lang="en-IN" sz="2400" dirty="0" smtClean="0"/>
              <a:t> [OPTION]</a:t>
            </a:r>
          </a:p>
          <a:p>
            <a:endParaRPr lang="en-IN" sz="2400" dirty="0" smtClean="0"/>
          </a:p>
          <a:p>
            <a:pPr algn="just"/>
            <a:r>
              <a:rPr lang="en-IN" sz="2400" b="1" dirty="0" smtClean="0"/>
              <a:t>OPTIONS</a:t>
            </a:r>
          </a:p>
          <a:p>
            <a:pPr algn="just"/>
            <a:r>
              <a:rPr lang="en-IN" sz="2400" b="1" dirty="0" smtClean="0"/>
              <a:t>--help</a:t>
            </a:r>
          </a:p>
          <a:p>
            <a:pPr algn="just"/>
            <a:r>
              <a:rPr lang="en-IN" sz="2400" dirty="0" smtClean="0"/>
              <a:t>Display a help message, and exit.</a:t>
            </a:r>
          </a:p>
          <a:p>
            <a:pPr algn="just"/>
            <a:r>
              <a:rPr lang="en-IN" sz="2400" b="1" dirty="0" smtClean="0"/>
              <a:t>--version</a:t>
            </a:r>
          </a:p>
          <a:p>
            <a:pPr algn="just"/>
            <a:r>
              <a:rPr lang="en-IN" sz="2400" dirty="0" smtClean="0"/>
              <a:t>Display version information, and exit.</a:t>
            </a:r>
            <a:endParaRPr lang="en-IN" sz="2400" b="1" dirty="0" smtClean="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44624"/>
            <a:ext cx="7488832" cy="812303"/>
          </a:xfrm>
        </p:spPr>
        <p:txBody>
          <a:bodyPr/>
          <a:lstStyle/>
          <a:p>
            <a:r>
              <a:rPr lang="en-IN" dirty="0" smtClean="0"/>
              <a:t>Login Commands</a:t>
            </a:r>
            <a:endParaRPr lang="en-IN" dirty="0"/>
          </a:p>
        </p:txBody>
      </p:sp>
      <p:sp>
        <p:nvSpPr>
          <p:cNvPr id="5" name="TextBox 4"/>
          <p:cNvSpPr txBox="1"/>
          <p:nvPr/>
        </p:nvSpPr>
        <p:spPr>
          <a:xfrm>
            <a:off x="1331640" y="941819"/>
            <a:ext cx="7272808" cy="2677656"/>
          </a:xfrm>
          <a:prstGeom prst="rect">
            <a:avLst/>
          </a:prstGeom>
          <a:noFill/>
        </p:spPr>
        <p:txBody>
          <a:bodyPr wrap="square" rtlCol="0">
            <a:spAutoFit/>
          </a:bodyPr>
          <a:lstStyle/>
          <a:p>
            <a:r>
              <a:rPr lang="en-IN" sz="2400" b="1" dirty="0" smtClean="0"/>
              <a:t>clear</a:t>
            </a:r>
          </a:p>
          <a:p>
            <a:r>
              <a:rPr lang="en-IN" sz="2400" dirty="0" smtClean="0"/>
              <a:t>clear the terminal screen.</a:t>
            </a:r>
          </a:p>
          <a:p>
            <a:endParaRPr lang="en-IN" sz="2400" b="1" dirty="0" smtClean="0"/>
          </a:p>
          <a:p>
            <a:r>
              <a:rPr lang="en-IN" sz="2400" b="1" dirty="0" smtClean="0"/>
              <a:t>EXAMPLE</a:t>
            </a:r>
          </a:p>
          <a:p>
            <a:endParaRPr lang="en-IN" sz="2400" b="1" dirty="0" smtClean="0"/>
          </a:p>
          <a:p>
            <a:r>
              <a:rPr lang="en-IN" sz="2400" dirty="0" smtClean="0"/>
              <a:t>Clear the terminal</a:t>
            </a:r>
          </a:p>
          <a:p>
            <a:r>
              <a:rPr lang="en-IN" sz="2400" dirty="0" smtClean="0"/>
              <a:t>$ clear </a:t>
            </a:r>
            <a:endParaRPr lang="en-IN" sz="2400" b="1" dirty="0" smtClean="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
            </a:r>
            <a:br>
              <a:rPr lang="en-IN" dirty="0" smtClean="0"/>
            </a:br>
            <a:r>
              <a:rPr lang="en-IN" dirty="0" err="1" smtClean="0"/>
              <a:t>uname</a:t>
            </a:r>
            <a:r>
              <a:rPr lang="en-IN" dirty="0"/>
              <a:t>:</a:t>
            </a:r>
          </a:p>
        </p:txBody>
      </p:sp>
      <p:sp>
        <p:nvSpPr>
          <p:cNvPr id="3" name="Content Placeholder 2"/>
          <p:cNvSpPr>
            <a:spLocks noGrp="1"/>
          </p:cNvSpPr>
          <p:nvPr>
            <p:ph idx="1"/>
          </p:nvPr>
        </p:nvSpPr>
        <p:spPr/>
        <p:txBody>
          <a:bodyPr>
            <a:normAutofit fontScale="62500" lnSpcReduction="20000"/>
          </a:bodyPr>
          <a:lstStyle/>
          <a:p>
            <a:r>
              <a:rPr lang="en-IN" dirty="0" smtClean="0"/>
              <a:t>• </a:t>
            </a:r>
            <a:r>
              <a:rPr lang="en-IN" dirty="0"/>
              <a:t>Display about the system. </a:t>
            </a:r>
            <a:endParaRPr lang="en-IN" dirty="0" smtClean="0"/>
          </a:p>
          <a:p>
            <a:pPr marL="82296" indent="0">
              <a:buNone/>
            </a:pPr>
            <a:endParaRPr lang="en-IN" dirty="0" smtClean="0"/>
          </a:p>
          <a:p>
            <a:pPr marL="82296" indent="0">
              <a:buNone/>
            </a:pPr>
            <a:r>
              <a:rPr lang="en-IN" dirty="0" smtClean="0"/>
              <a:t>SYNTAX</a:t>
            </a:r>
            <a:r>
              <a:rPr lang="en-IN" dirty="0"/>
              <a:t>: </a:t>
            </a:r>
            <a:r>
              <a:rPr lang="en-IN" dirty="0" err="1"/>
              <a:t>uname</a:t>
            </a:r>
            <a:r>
              <a:rPr lang="en-IN" dirty="0"/>
              <a:t> OPTION DETAILS </a:t>
            </a:r>
            <a:endParaRPr lang="en-IN" dirty="0" smtClean="0"/>
          </a:p>
          <a:p>
            <a:pPr marL="82296" indent="0">
              <a:buNone/>
            </a:pPr>
            <a:endParaRPr lang="en-IN" dirty="0" smtClean="0"/>
          </a:p>
          <a:p>
            <a:r>
              <a:rPr lang="en-IN" dirty="0" smtClean="0"/>
              <a:t>-</a:t>
            </a:r>
            <a:r>
              <a:rPr lang="en-IN" dirty="0"/>
              <a:t>a Kernel name, network node hostname, kernel release date, kernel version, machine hardware name, hardware platform, operating </a:t>
            </a:r>
            <a:r>
              <a:rPr lang="en-IN" dirty="0" smtClean="0"/>
              <a:t>system</a:t>
            </a:r>
          </a:p>
          <a:p>
            <a:r>
              <a:rPr lang="en-IN" dirty="0" smtClean="0"/>
              <a:t> </a:t>
            </a:r>
            <a:r>
              <a:rPr lang="en-IN" dirty="0"/>
              <a:t>-s Kernel name </a:t>
            </a:r>
            <a:endParaRPr lang="en-IN" dirty="0" smtClean="0"/>
          </a:p>
          <a:p>
            <a:r>
              <a:rPr lang="en-IN" dirty="0" smtClean="0"/>
              <a:t>-</a:t>
            </a:r>
            <a:r>
              <a:rPr lang="en-IN" dirty="0"/>
              <a:t>n hostname of the network node(current computer). </a:t>
            </a:r>
            <a:endParaRPr lang="en-IN" dirty="0" smtClean="0"/>
          </a:p>
          <a:p>
            <a:r>
              <a:rPr lang="en-IN" dirty="0" smtClean="0"/>
              <a:t>-</a:t>
            </a:r>
            <a:r>
              <a:rPr lang="en-IN" dirty="0"/>
              <a:t>r </a:t>
            </a:r>
            <a:r>
              <a:rPr lang="en-IN" dirty="0" err="1"/>
              <a:t>Kernal</a:t>
            </a:r>
            <a:r>
              <a:rPr lang="en-IN" dirty="0"/>
              <a:t> release name </a:t>
            </a:r>
            <a:endParaRPr lang="en-IN" dirty="0" smtClean="0"/>
          </a:p>
          <a:p>
            <a:r>
              <a:rPr lang="en-IN" dirty="0" smtClean="0"/>
              <a:t>-</a:t>
            </a:r>
            <a:r>
              <a:rPr lang="en-IN" dirty="0"/>
              <a:t>v Version of kernel </a:t>
            </a:r>
            <a:endParaRPr lang="en-IN" dirty="0" smtClean="0"/>
          </a:p>
          <a:p>
            <a:r>
              <a:rPr lang="en-IN" dirty="0" smtClean="0"/>
              <a:t>-</a:t>
            </a:r>
            <a:r>
              <a:rPr lang="en-IN" dirty="0"/>
              <a:t>m Machine hardware </a:t>
            </a:r>
            <a:r>
              <a:rPr lang="en-IN" dirty="0" smtClean="0"/>
              <a:t>name</a:t>
            </a:r>
          </a:p>
          <a:p>
            <a:r>
              <a:rPr lang="en-IN" dirty="0" smtClean="0"/>
              <a:t> </a:t>
            </a:r>
            <a:r>
              <a:rPr lang="en-IN" dirty="0"/>
              <a:t>-p Types of processor </a:t>
            </a:r>
            <a:endParaRPr lang="en-IN" dirty="0" smtClean="0"/>
          </a:p>
          <a:p>
            <a:r>
              <a:rPr lang="en-IN" dirty="0" smtClean="0"/>
              <a:t>-</a:t>
            </a:r>
            <a:r>
              <a:rPr lang="en-IN" dirty="0"/>
              <a:t>i Platform of </a:t>
            </a:r>
            <a:r>
              <a:rPr lang="en-IN" dirty="0" smtClean="0"/>
              <a:t>hardware</a:t>
            </a:r>
          </a:p>
          <a:p>
            <a:r>
              <a:rPr lang="en-IN" dirty="0" smtClean="0"/>
              <a:t> </a:t>
            </a:r>
            <a:r>
              <a:rPr lang="en-IN" dirty="0"/>
              <a:t>-o Operating system name</a:t>
            </a:r>
          </a:p>
        </p:txBody>
      </p:sp>
      <p:sp>
        <p:nvSpPr>
          <p:cNvPr id="4" name="Footer Placeholder 3"/>
          <p:cNvSpPr>
            <a:spLocks noGrp="1"/>
          </p:cNvSpPr>
          <p:nvPr>
            <p:ph type="ftr" sz="quarter" idx="11"/>
          </p:nvPr>
        </p:nvSpPr>
        <p:spPr/>
        <p:txBody>
          <a:bodyPr/>
          <a:lstStyle/>
          <a:p>
            <a:r>
              <a:rPr lang="en-US" smtClean="0"/>
              <a:t>Created By: Prof. Mital Goswami</a:t>
            </a:r>
            <a:endParaRPr lang="en-IN"/>
          </a:p>
        </p:txBody>
      </p:sp>
      <p:sp>
        <p:nvSpPr>
          <p:cNvPr id="5" name="Title 1"/>
          <p:cNvSpPr txBox="1">
            <a:spLocks/>
          </p:cNvSpPr>
          <p:nvPr/>
        </p:nvSpPr>
        <p:spPr>
          <a:xfrm>
            <a:off x="1259632" y="44624"/>
            <a:ext cx="7488832" cy="812303"/>
          </a:xfrm>
          <a:prstGeom prst="rect">
            <a:avLst/>
          </a:prstGeom>
        </p:spPr>
        <p:txBody>
          <a:bodyPr anchor="ctr">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IN" smtClean="0"/>
              <a:t>Login Commands</a:t>
            </a:r>
            <a:endParaRPr lang="en-IN" dirty="0"/>
          </a:p>
        </p:txBody>
      </p:sp>
    </p:spTree>
    <p:extLst>
      <p:ext uri="{BB962C8B-B14F-4D97-AF65-F5344CB8AC3E}">
        <p14:creationId xmlns:p14="http://schemas.microsoft.com/office/powerpoint/2010/main" val="1998712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44624"/>
            <a:ext cx="7488832" cy="812303"/>
          </a:xfrm>
        </p:spPr>
        <p:txBody>
          <a:bodyPr/>
          <a:lstStyle/>
          <a:p>
            <a:r>
              <a:rPr lang="en-IN" dirty="0" smtClean="0"/>
              <a:t>File &amp; Directory Commands</a:t>
            </a:r>
            <a:endParaRPr lang="en-IN" dirty="0"/>
          </a:p>
        </p:txBody>
      </p:sp>
      <p:sp>
        <p:nvSpPr>
          <p:cNvPr id="5" name="TextBox 4"/>
          <p:cNvSpPr txBox="1"/>
          <p:nvPr/>
        </p:nvSpPr>
        <p:spPr>
          <a:xfrm>
            <a:off x="1331640" y="941819"/>
            <a:ext cx="7272808" cy="5632311"/>
          </a:xfrm>
          <a:prstGeom prst="rect">
            <a:avLst/>
          </a:prstGeom>
          <a:noFill/>
        </p:spPr>
        <p:txBody>
          <a:bodyPr wrap="square" rtlCol="0">
            <a:spAutoFit/>
          </a:bodyPr>
          <a:lstStyle/>
          <a:p>
            <a:r>
              <a:rPr lang="en-IN" sz="2400" b="1" dirty="0" err="1" smtClean="0"/>
              <a:t>ls</a:t>
            </a:r>
            <a:r>
              <a:rPr lang="en-IN" sz="2400" dirty="0" smtClean="0"/>
              <a:t> - list directory contents.</a:t>
            </a:r>
          </a:p>
          <a:p>
            <a:r>
              <a:rPr lang="en-IN" sz="2400" b="1" dirty="0" err="1" smtClean="0"/>
              <a:t>ls</a:t>
            </a:r>
            <a:r>
              <a:rPr lang="en-IN" sz="2400" b="1" dirty="0" smtClean="0"/>
              <a:t> </a:t>
            </a:r>
            <a:r>
              <a:rPr lang="en-IN" sz="2400" dirty="0" smtClean="0"/>
              <a:t>List information about the FILEs (the current directory by default).</a:t>
            </a:r>
          </a:p>
          <a:p>
            <a:endParaRPr lang="en-IN" sz="2400" b="1" dirty="0" smtClean="0"/>
          </a:p>
          <a:p>
            <a:r>
              <a:rPr lang="en-IN" sz="2400" b="1" dirty="0" smtClean="0"/>
              <a:t>Options</a:t>
            </a:r>
          </a:p>
          <a:p>
            <a:r>
              <a:rPr lang="en-IN" sz="2400" b="1" dirty="0" smtClean="0"/>
              <a:t>-l</a:t>
            </a:r>
            <a:r>
              <a:rPr lang="en-IN" sz="2400" dirty="0" smtClean="0"/>
              <a:t> </a:t>
            </a:r>
          </a:p>
          <a:p>
            <a:r>
              <a:rPr lang="en-IN" sz="2400" dirty="0" smtClean="0"/>
              <a:t>use a long listing format</a:t>
            </a:r>
            <a:endParaRPr lang="en-IN" sz="2400" b="1" dirty="0" smtClean="0"/>
          </a:p>
          <a:p>
            <a:r>
              <a:rPr lang="en-IN" sz="2400" b="1" dirty="0" smtClean="0"/>
              <a:t>--author </a:t>
            </a:r>
          </a:p>
          <a:p>
            <a:r>
              <a:rPr lang="en-IN" sz="2400" dirty="0" smtClean="0"/>
              <a:t>with –l, print the author of each file.</a:t>
            </a:r>
          </a:p>
          <a:p>
            <a:r>
              <a:rPr lang="en-IN" sz="2400" b="1" dirty="0" smtClean="0"/>
              <a:t>-C </a:t>
            </a:r>
          </a:p>
          <a:p>
            <a:r>
              <a:rPr lang="en-IN" sz="2400" dirty="0" smtClean="0"/>
              <a:t>list entries by columns</a:t>
            </a:r>
          </a:p>
          <a:p>
            <a:r>
              <a:rPr lang="en-IN" sz="2400" b="1" dirty="0" smtClean="0"/>
              <a:t>-g </a:t>
            </a:r>
          </a:p>
          <a:p>
            <a:r>
              <a:rPr lang="en-IN" sz="2400" dirty="0" smtClean="0"/>
              <a:t>like -l, but do not list owner</a:t>
            </a:r>
          </a:p>
          <a:p>
            <a:r>
              <a:rPr lang="en-IN" sz="2400" b="1" dirty="0" smtClean="0"/>
              <a:t>-G, --no-group </a:t>
            </a:r>
          </a:p>
          <a:p>
            <a:r>
              <a:rPr lang="en-IN" sz="2400" dirty="0" smtClean="0"/>
              <a:t>in a long listing, don't print group names </a:t>
            </a:r>
            <a:endParaRPr lang="en-IN" sz="2400" b="1" dirty="0" smtClean="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44624"/>
            <a:ext cx="7488832" cy="812303"/>
          </a:xfrm>
        </p:spPr>
        <p:txBody>
          <a:bodyPr/>
          <a:lstStyle/>
          <a:p>
            <a:r>
              <a:rPr lang="en-IN" dirty="0" smtClean="0"/>
              <a:t>File &amp; Directory Commands</a:t>
            </a:r>
            <a:endParaRPr lang="en-IN" dirty="0"/>
          </a:p>
        </p:txBody>
      </p:sp>
      <p:sp>
        <p:nvSpPr>
          <p:cNvPr id="5" name="TextBox 4"/>
          <p:cNvSpPr txBox="1"/>
          <p:nvPr/>
        </p:nvSpPr>
        <p:spPr>
          <a:xfrm>
            <a:off x="1331640" y="941819"/>
            <a:ext cx="7272808" cy="3785652"/>
          </a:xfrm>
          <a:prstGeom prst="rect">
            <a:avLst/>
          </a:prstGeom>
          <a:noFill/>
        </p:spPr>
        <p:txBody>
          <a:bodyPr wrap="square" rtlCol="0">
            <a:spAutoFit/>
          </a:bodyPr>
          <a:lstStyle/>
          <a:p>
            <a:r>
              <a:rPr lang="en-IN" sz="2400" b="1" dirty="0" smtClean="0"/>
              <a:t>-m </a:t>
            </a:r>
          </a:p>
          <a:p>
            <a:r>
              <a:rPr lang="en-IN" sz="2400" dirty="0" smtClean="0"/>
              <a:t>fill width with a comma separated list of entries</a:t>
            </a:r>
          </a:p>
          <a:p>
            <a:r>
              <a:rPr lang="en-IN" sz="2400" b="1" dirty="0" smtClean="0"/>
              <a:t>-S</a:t>
            </a:r>
            <a:r>
              <a:rPr lang="en-IN" sz="2400" dirty="0" smtClean="0"/>
              <a:t> </a:t>
            </a:r>
          </a:p>
          <a:p>
            <a:r>
              <a:rPr lang="en-IN" sz="2400" dirty="0" smtClean="0"/>
              <a:t>sort by file size </a:t>
            </a:r>
          </a:p>
          <a:p>
            <a:r>
              <a:rPr lang="en-IN" sz="2400" b="1" dirty="0" smtClean="0"/>
              <a:t>-r, --reverse </a:t>
            </a:r>
          </a:p>
          <a:p>
            <a:r>
              <a:rPr lang="en-IN" sz="2400" dirty="0" smtClean="0"/>
              <a:t>reverse order while sorting</a:t>
            </a:r>
          </a:p>
          <a:p>
            <a:r>
              <a:rPr lang="en-IN" sz="2400" b="1" dirty="0" smtClean="0"/>
              <a:t>-t</a:t>
            </a:r>
            <a:r>
              <a:rPr lang="en-IN" sz="2400" dirty="0" smtClean="0"/>
              <a:t> </a:t>
            </a:r>
          </a:p>
          <a:p>
            <a:r>
              <a:rPr lang="en-IN" sz="2400" dirty="0" smtClean="0"/>
              <a:t>sort by modification time </a:t>
            </a:r>
          </a:p>
          <a:p>
            <a:r>
              <a:rPr lang="en-IN" sz="2400" b="1" dirty="0" smtClean="0"/>
              <a:t>-x</a:t>
            </a:r>
            <a:r>
              <a:rPr lang="en-IN" sz="2400" dirty="0" smtClean="0"/>
              <a:t> </a:t>
            </a:r>
          </a:p>
          <a:p>
            <a:r>
              <a:rPr lang="en-IN" sz="2400" dirty="0" smtClean="0"/>
              <a:t>list entries by lines instead of by columns </a:t>
            </a:r>
            <a:endParaRPr lang="en-IN" sz="2400" b="1" dirty="0" smtClean="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44624"/>
            <a:ext cx="7488832" cy="812303"/>
          </a:xfrm>
        </p:spPr>
        <p:txBody>
          <a:bodyPr/>
          <a:lstStyle/>
          <a:p>
            <a:r>
              <a:rPr lang="en-IN" dirty="0" smtClean="0"/>
              <a:t>File &amp; Directory Commands</a:t>
            </a:r>
            <a:endParaRPr lang="en-IN" dirty="0"/>
          </a:p>
        </p:txBody>
      </p:sp>
      <p:sp>
        <p:nvSpPr>
          <p:cNvPr id="5" name="TextBox 4"/>
          <p:cNvSpPr txBox="1"/>
          <p:nvPr/>
        </p:nvSpPr>
        <p:spPr>
          <a:xfrm>
            <a:off x="1331640" y="941819"/>
            <a:ext cx="7272808" cy="2308324"/>
          </a:xfrm>
          <a:prstGeom prst="rect">
            <a:avLst/>
          </a:prstGeom>
          <a:noFill/>
        </p:spPr>
        <p:txBody>
          <a:bodyPr wrap="square" rtlCol="0">
            <a:spAutoFit/>
          </a:bodyPr>
          <a:lstStyle/>
          <a:p>
            <a:r>
              <a:rPr lang="en-IN" sz="2400" b="1" dirty="0" smtClean="0"/>
              <a:t>Example:</a:t>
            </a:r>
          </a:p>
          <a:p>
            <a:endParaRPr lang="en-IN" sz="2400" dirty="0" smtClean="0"/>
          </a:p>
          <a:p>
            <a:r>
              <a:rPr lang="en-IN" sz="2400" dirty="0" smtClean="0"/>
              <a:t>To list all files of current directory:</a:t>
            </a:r>
          </a:p>
          <a:p>
            <a:r>
              <a:rPr lang="en-IN" sz="2400" dirty="0" smtClean="0"/>
              <a:t>$ </a:t>
            </a:r>
            <a:r>
              <a:rPr lang="en-IN" sz="2400" dirty="0" err="1" smtClean="0"/>
              <a:t>ls</a:t>
            </a:r>
            <a:endParaRPr lang="en-IN" sz="2400" dirty="0" smtClean="0"/>
          </a:p>
          <a:p>
            <a:r>
              <a:rPr lang="en-IN" sz="2400" i="1" dirty="0" smtClean="0"/>
              <a:t>output:</a:t>
            </a:r>
            <a:endParaRPr lang="en-IN" sz="2400" dirty="0" smtClean="0"/>
          </a:p>
          <a:p>
            <a:r>
              <a:rPr lang="en-IN" sz="2400" dirty="0" smtClean="0"/>
              <a:t># </a:t>
            </a:r>
            <a:r>
              <a:rPr lang="en-IN" sz="2400" dirty="0" err="1" smtClean="0"/>
              <a:t>ls</a:t>
            </a:r>
            <a:endParaRPr lang="en-IN" sz="2400" dirty="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27384"/>
            <a:ext cx="7488832" cy="812303"/>
          </a:xfrm>
        </p:spPr>
        <p:txBody>
          <a:bodyPr/>
          <a:lstStyle/>
          <a:p>
            <a:r>
              <a:rPr lang="en-IN" dirty="0" smtClean="0"/>
              <a:t>File &amp; Directory Commands</a:t>
            </a:r>
            <a:endParaRPr lang="en-IN" dirty="0"/>
          </a:p>
        </p:txBody>
      </p:sp>
      <p:sp>
        <p:nvSpPr>
          <p:cNvPr id="5" name="TextBox 4"/>
          <p:cNvSpPr txBox="1"/>
          <p:nvPr/>
        </p:nvSpPr>
        <p:spPr>
          <a:xfrm>
            <a:off x="1331640" y="692696"/>
            <a:ext cx="7272808" cy="5816977"/>
          </a:xfrm>
          <a:prstGeom prst="rect">
            <a:avLst/>
          </a:prstGeom>
          <a:noFill/>
        </p:spPr>
        <p:txBody>
          <a:bodyPr wrap="square" rtlCol="0">
            <a:spAutoFit/>
          </a:bodyPr>
          <a:lstStyle/>
          <a:p>
            <a:r>
              <a:rPr lang="en-IN" sz="3200" b="1" dirty="0" smtClean="0"/>
              <a:t>cat</a:t>
            </a:r>
            <a:endParaRPr lang="en-IN" sz="3200" dirty="0" smtClean="0"/>
          </a:p>
          <a:p>
            <a:r>
              <a:rPr lang="en-IN" sz="2400" dirty="0" smtClean="0"/>
              <a:t>The cat (short for “concatenate“) command is one of the most frequently used command in Linux/Unix like operating systems. cat </a:t>
            </a:r>
            <a:r>
              <a:rPr lang="en-IN" sz="2400" b="1" dirty="0" smtClean="0"/>
              <a:t>command allows us to</a:t>
            </a:r>
            <a:r>
              <a:rPr lang="en-IN" sz="2400" dirty="0" smtClean="0"/>
              <a:t> create single or multiple files, view contain of file, concatenate files and redirect output in terminal or files.</a:t>
            </a:r>
          </a:p>
          <a:p>
            <a:r>
              <a:rPr lang="en-IN" sz="2400" b="1" dirty="0" smtClean="0"/>
              <a:t>SYNTAX</a:t>
            </a:r>
          </a:p>
          <a:p>
            <a:r>
              <a:rPr lang="en-IN" sz="2400" dirty="0" smtClean="0"/>
              <a:t>cat [Options] [File]…</a:t>
            </a:r>
          </a:p>
          <a:p>
            <a:r>
              <a:rPr lang="en-IN" sz="2800" b="1" dirty="0" smtClean="0"/>
              <a:t>Example :</a:t>
            </a:r>
          </a:p>
          <a:p>
            <a:r>
              <a:rPr lang="en-IN" sz="2400" dirty="0" smtClean="0"/>
              <a:t>Create two sample files</a:t>
            </a:r>
          </a:p>
          <a:p>
            <a:r>
              <a:rPr lang="en-IN" sz="2400" dirty="0" smtClean="0"/>
              <a:t>#sample.txt </a:t>
            </a:r>
          </a:p>
          <a:p>
            <a:r>
              <a:rPr lang="en-IN" sz="2400" dirty="0" smtClean="0"/>
              <a:t>This is a sample text file </a:t>
            </a:r>
          </a:p>
          <a:p>
            <a:endParaRPr lang="en-IN" sz="2400" dirty="0" smtClean="0"/>
          </a:p>
          <a:p>
            <a:r>
              <a:rPr lang="en-IN" sz="2400" dirty="0" smtClean="0"/>
              <a:t>#sample1.txt </a:t>
            </a:r>
          </a:p>
          <a:p>
            <a:r>
              <a:rPr lang="en-IN" sz="2400" dirty="0" smtClean="0"/>
              <a:t>This is a another sample text file </a:t>
            </a:r>
            <a:endParaRPr lang="en-IN" sz="2400" dirty="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27384"/>
            <a:ext cx="7488832" cy="812303"/>
          </a:xfrm>
        </p:spPr>
        <p:txBody>
          <a:bodyPr/>
          <a:lstStyle/>
          <a:p>
            <a:r>
              <a:rPr lang="en-IN" dirty="0" smtClean="0"/>
              <a:t>File &amp; Directory Commands</a:t>
            </a:r>
            <a:endParaRPr lang="en-IN" dirty="0"/>
          </a:p>
        </p:txBody>
      </p:sp>
      <p:sp>
        <p:nvSpPr>
          <p:cNvPr id="5" name="TextBox 4"/>
          <p:cNvSpPr txBox="1"/>
          <p:nvPr/>
        </p:nvSpPr>
        <p:spPr>
          <a:xfrm>
            <a:off x="1331640" y="877809"/>
            <a:ext cx="7272808" cy="4893647"/>
          </a:xfrm>
          <a:prstGeom prst="rect">
            <a:avLst/>
          </a:prstGeom>
          <a:noFill/>
        </p:spPr>
        <p:txBody>
          <a:bodyPr wrap="square" rtlCol="0">
            <a:spAutoFit/>
          </a:bodyPr>
          <a:lstStyle/>
          <a:p>
            <a:r>
              <a:rPr lang="en-IN" sz="2400" dirty="0" smtClean="0"/>
              <a:t>To display content of a file.</a:t>
            </a:r>
          </a:p>
          <a:p>
            <a:r>
              <a:rPr lang="en-IN" sz="2400" dirty="0" smtClean="0"/>
              <a:t>$ cat sample.txt </a:t>
            </a:r>
          </a:p>
          <a:p>
            <a:r>
              <a:rPr lang="en-IN" sz="2400" dirty="0" smtClean="0"/>
              <a:t>This is a sample text file</a:t>
            </a:r>
          </a:p>
          <a:p>
            <a:endParaRPr lang="en-IN" sz="2400" dirty="0" smtClean="0"/>
          </a:p>
          <a:p>
            <a:r>
              <a:rPr lang="en-IN" sz="2400" dirty="0" smtClean="0"/>
              <a:t>To display content of all txt files.</a:t>
            </a:r>
          </a:p>
          <a:p>
            <a:r>
              <a:rPr lang="en-IN" sz="2400" dirty="0" smtClean="0"/>
              <a:t>$ cat *.txt </a:t>
            </a:r>
          </a:p>
          <a:p>
            <a:r>
              <a:rPr lang="en-IN" sz="2400" dirty="0" smtClean="0"/>
              <a:t>This is a another sample text file This is a sample text file  </a:t>
            </a:r>
          </a:p>
          <a:p>
            <a:endParaRPr lang="en-IN" sz="2400" dirty="0" smtClean="0"/>
          </a:p>
          <a:p>
            <a:r>
              <a:rPr lang="en-IN" sz="2400" dirty="0" smtClean="0"/>
              <a:t>To concatenate two files.</a:t>
            </a:r>
          </a:p>
          <a:p>
            <a:r>
              <a:rPr lang="en-IN" sz="2400" dirty="0" smtClean="0"/>
              <a:t>$ cat sample.txt sample1.txt &gt; sample2.txt </a:t>
            </a:r>
          </a:p>
          <a:p>
            <a:r>
              <a:rPr lang="en-IN" sz="2400" dirty="0" smtClean="0"/>
              <a:t>$ cat sample2.txt </a:t>
            </a:r>
          </a:p>
          <a:p>
            <a:r>
              <a:rPr lang="en-IN" sz="2400" dirty="0" smtClean="0"/>
              <a:t>This is a sample text file </a:t>
            </a:r>
          </a:p>
          <a:p>
            <a:r>
              <a:rPr lang="en-IN" sz="2400" dirty="0" smtClean="0"/>
              <a:t>This is a another sample text file </a:t>
            </a:r>
            <a:endParaRPr lang="en-IN" sz="2400" dirty="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27384"/>
            <a:ext cx="7488832" cy="812303"/>
          </a:xfrm>
        </p:spPr>
        <p:txBody>
          <a:bodyPr/>
          <a:lstStyle/>
          <a:p>
            <a:r>
              <a:rPr lang="en-IN" dirty="0" smtClean="0"/>
              <a:t>File &amp; Directory Commands</a:t>
            </a:r>
            <a:endParaRPr lang="en-IN" dirty="0"/>
          </a:p>
        </p:txBody>
      </p:sp>
      <p:sp>
        <p:nvSpPr>
          <p:cNvPr id="5" name="TextBox 4"/>
          <p:cNvSpPr txBox="1"/>
          <p:nvPr/>
        </p:nvSpPr>
        <p:spPr>
          <a:xfrm>
            <a:off x="1331640" y="877809"/>
            <a:ext cx="7272808" cy="4893647"/>
          </a:xfrm>
          <a:prstGeom prst="rect">
            <a:avLst/>
          </a:prstGeom>
          <a:noFill/>
        </p:spPr>
        <p:txBody>
          <a:bodyPr wrap="square" rtlCol="0">
            <a:spAutoFit/>
          </a:bodyPr>
          <a:lstStyle/>
          <a:p>
            <a:r>
              <a:rPr lang="en-IN" sz="2400" dirty="0" smtClean="0"/>
              <a:t>To display content of a file.</a:t>
            </a:r>
          </a:p>
          <a:p>
            <a:r>
              <a:rPr lang="en-IN" sz="2400" dirty="0" smtClean="0"/>
              <a:t>$ cat sample.txt </a:t>
            </a:r>
          </a:p>
          <a:p>
            <a:r>
              <a:rPr lang="en-IN" sz="2400" dirty="0" smtClean="0"/>
              <a:t>This is a sample text file</a:t>
            </a:r>
          </a:p>
          <a:p>
            <a:endParaRPr lang="en-IN" sz="2400" dirty="0" smtClean="0"/>
          </a:p>
          <a:p>
            <a:r>
              <a:rPr lang="en-IN" sz="2400" dirty="0" smtClean="0"/>
              <a:t>To display content of all txt files.</a:t>
            </a:r>
          </a:p>
          <a:p>
            <a:r>
              <a:rPr lang="en-IN" sz="2400" dirty="0" smtClean="0"/>
              <a:t>$ cat *.txt </a:t>
            </a:r>
          </a:p>
          <a:p>
            <a:r>
              <a:rPr lang="en-IN" sz="2400" dirty="0" smtClean="0"/>
              <a:t>This is a another sample text file This is a sample text file  </a:t>
            </a:r>
          </a:p>
          <a:p>
            <a:endParaRPr lang="en-IN" sz="2400" dirty="0" smtClean="0"/>
          </a:p>
          <a:p>
            <a:r>
              <a:rPr lang="en-IN" sz="2400" dirty="0" smtClean="0"/>
              <a:t>To concatenate two files.</a:t>
            </a:r>
          </a:p>
          <a:p>
            <a:r>
              <a:rPr lang="en-IN" sz="2400" dirty="0" smtClean="0"/>
              <a:t>$ cat sample.txt sample1.txt &gt; sample2.txt </a:t>
            </a:r>
          </a:p>
          <a:p>
            <a:r>
              <a:rPr lang="en-IN" sz="2400" dirty="0" smtClean="0"/>
              <a:t>$ cat sample2.txt </a:t>
            </a:r>
          </a:p>
          <a:p>
            <a:r>
              <a:rPr lang="en-IN" sz="2400" dirty="0" smtClean="0"/>
              <a:t>This is a sample text file </a:t>
            </a:r>
          </a:p>
          <a:p>
            <a:r>
              <a:rPr lang="en-IN" sz="2400" dirty="0" smtClean="0"/>
              <a:t>This is a another sample text file </a:t>
            </a:r>
            <a:endParaRPr lang="en-IN" sz="2400" dirty="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27384"/>
            <a:ext cx="7488832" cy="812303"/>
          </a:xfrm>
        </p:spPr>
        <p:txBody>
          <a:bodyPr/>
          <a:lstStyle/>
          <a:p>
            <a:r>
              <a:rPr lang="en-IN" dirty="0" smtClean="0"/>
              <a:t>File &amp; Directory Commands</a:t>
            </a:r>
            <a:endParaRPr lang="en-IN" dirty="0"/>
          </a:p>
        </p:txBody>
      </p:sp>
      <p:sp>
        <p:nvSpPr>
          <p:cNvPr id="5" name="TextBox 4"/>
          <p:cNvSpPr txBox="1"/>
          <p:nvPr/>
        </p:nvSpPr>
        <p:spPr>
          <a:xfrm>
            <a:off x="1331640" y="877809"/>
            <a:ext cx="7272808" cy="6370975"/>
          </a:xfrm>
          <a:prstGeom prst="rect">
            <a:avLst/>
          </a:prstGeom>
          <a:noFill/>
        </p:spPr>
        <p:txBody>
          <a:bodyPr wrap="square" rtlCol="0">
            <a:spAutoFit/>
          </a:bodyPr>
          <a:lstStyle/>
          <a:p>
            <a:r>
              <a:rPr lang="en-IN" sz="2400" b="1" dirty="0" err="1" smtClean="0"/>
              <a:t>cd</a:t>
            </a:r>
            <a:r>
              <a:rPr lang="en-IN" sz="2400" dirty="0" smtClean="0"/>
              <a:t> </a:t>
            </a:r>
          </a:p>
          <a:p>
            <a:r>
              <a:rPr lang="en-IN" sz="2400" dirty="0" smtClean="0"/>
              <a:t>To change directory - change the current working directory to a specific Folder.</a:t>
            </a:r>
          </a:p>
          <a:p>
            <a:r>
              <a:rPr lang="en-IN" sz="2400" dirty="0" smtClean="0"/>
              <a:t>If directory is given, changes the shell's working directory </a:t>
            </a:r>
            <a:r>
              <a:rPr lang="en-IN" sz="2400" dirty="0" err="1" smtClean="0"/>
              <a:t>todirectory</a:t>
            </a:r>
            <a:r>
              <a:rPr lang="en-IN" sz="2400" dirty="0" smtClean="0"/>
              <a:t>.</a:t>
            </a:r>
          </a:p>
          <a:p>
            <a:endParaRPr lang="en-IN" sz="2400" dirty="0" smtClean="0"/>
          </a:p>
          <a:p>
            <a:r>
              <a:rPr lang="en-IN" sz="2400" b="1" dirty="0" smtClean="0"/>
              <a:t>EXAMPLES</a:t>
            </a:r>
          </a:p>
          <a:p>
            <a:r>
              <a:rPr lang="en-IN" sz="2400" dirty="0" smtClean="0"/>
              <a:t>Move to the sample folder</a:t>
            </a:r>
          </a:p>
          <a:p>
            <a:r>
              <a:rPr lang="en-IN" sz="2400" dirty="0" smtClean="0"/>
              <a:t>$ </a:t>
            </a:r>
            <a:r>
              <a:rPr lang="en-IN" sz="2400" dirty="0" err="1" smtClean="0"/>
              <a:t>cd</a:t>
            </a:r>
            <a:r>
              <a:rPr lang="en-IN" sz="2400" dirty="0" smtClean="0"/>
              <a:t> /</a:t>
            </a:r>
            <a:r>
              <a:rPr lang="en-IN" sz="2400" dirty="0" err="1" smtClean="0"/>
              <a:t>usr</a:t>
            </a:r>
            <a:r>
              <a:rPr lang="en-IN" sz="2400" dirty="0" smtClean="0"/>
              <a:t>/local/sample</a:t>
            </a:r>
          </a:p>
          <a:p>
            <a:r>
              <a:rPr lang="en-IN" sz="2400" dirty="0" smtClean="0"/>
              <a:t>Move up one folder</a:t>
            </a:r>
          </a:p>
          <a:p>
            <a:r>
              <a:rPr lang="en-IN" sz="2400" dirty="0" smtClean="0"/>
              <a:t>$ </a:t>
            </a:r>
            <a:r>
              <a:rPr lang="en-IN" sz="2400" dirty="0" err="1" smtClean="0"/>
              <a:t>cd</a:t>
            </a:r>
            <a:r>
              <a:rPr lang="en-IN" sz="2400" dirty="0" smtClean="0"/>
              <a:t> ..</a:t>
            </a:r>
          </a:p>
          <a:p>
            <a:r>
              <a:rPr lang="en-IN" sz="2400" dirty="0" smtClean="0"/>
              <a:t>Get back to original location</a:t>
            </a:r>
          </a:p>
          <a:p>
            <a:r>
              <a:rPr lang="en-IN" sz="2400" dirty="0" smtClean="0"/>
              <a:t>$ cd / </a:t>
            </a:r>
          </a:p>
          <a:p>
            <a:r>
              <a:rPr lang="en-IN" sz="2400" dirty="0" smtClean="0"/>
              <a:t>#root directory</a:t>
            </a:r>
          </a:p>
          <a:p>
            <a:r>
              <a:rPr lang="en-US" sz="2400" dirty="0" smtClean="0"/>
              <a:t>$ cd ~</a:t>
            </a:r>
          </a:p>
          <a:p>
            <a:r>
              <a:rPr lang="en-US" sz="2400" dirty="0" smtClean="0"/>
              <a:t>#</a:t>
            </a:r>
            <a:r>
              <a:rPr lang="en-US" sz="2400" smtClean="0"/>
              <a:t>home directory</a:t>
            </a:r>
            <a:endParaRPr lang="en-IN" sz="2400" smtClean="0"/>
          </a:p>
          <a:p>
            <a:endParaRPr lang="en-IN" sz="2400" dirty="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27384"/>
            <a:ext cx="7488832" cy="812303"/>
          </a:xfrm>
        </p:spPr>
        <p:txBody>
          <a:bodyPr/>
          <a:lstStyle/>
          <a:p>
            <a:r>
              <a:rPr lang="en-IN" dirty="0" smtClean="0"/>
              <a:t>File &amp; Directory Commands</a:t>
            </a:r>
            <a:endParaRPr lang="en-IN" dirty="0"/>
          </a:p>
        </p:txBody>
      </p:sp>
      <p:sp>
        <p:nvSpPr>
          <p:cNvPr id="5" name="TextBox 4"/>
          <p:cNvSpPr txBox="1"/>
          <p:nvPr/>
        </p:nvSpPr>
        <p:spPr>
          <a:xfrm>
            <a:off x="1331640" y="877809"/>
            <a:ext cx="7272808" cy="5632311"/>
          </a:xfrm>
          <a:prstGeom prst="rect">
            <a:avLst/>
          </a:prstGeom>
          <a:noFill/>
        </p:spPr>
        <p:txBody>
          <a:bodyPr wrap="square" rtlCol="0">
            <a:spAutoFit/>
          </a:bodyPr>
          <a:lstStyle/>
          <a:p>
            <a:r>
              <a:rPr lang="en-IN" sz="2400" b="1" dirty="0" err="1" smtClean="0"/>
              <a:t>pwd</a:t>
            </a:r>
            <a:r>
              <a:rPr lang="en-IN" sz="2400" dirty="0" smtClean="0"/>
              <a:t> </a:t>
            </a:r>
          </a:p>
          <a:p>
            <a:r>
              <a:rPr lang="en-IN" sz="2400" dirty="0" smtClean="0"/>
              <a:t>print name of current/working directory.</a:t>
            </a:r>
          </a:p>
          <a:p>
            <a:r>
              <a:rPr lang="en-IN" sz="2400" dirty="0" smtClean="0"/>
              <a:t>The current directory is nothing but the directory in which you are currently operating while using bash or </a:t>
            </a:r>
            <a:r>
              <a:rPr lang="en-IN" sz="2400" dirty="0" err="1" smtClean="0"/>
              <a:t>ksh</a:t>
            </a:r>
            <a:r>
              <a:rPr lang="en-IN" sz="2400" dirty="0" smtClean="0"/>
              <a:t>.</a:t>
            </a:r>
          </a:p>
          <a:p>
            <a:endParaRPr lang="en-IN" sz="2400" dirty="0" smtClean="0"/>
          </a:p>
          <a:p>
            <a:r>
              <a:rPr lang="en-IN" sz="2400" b="1" dirty="0" smtClean="0"/>
              <a:t>Syntax</a:t>
            </a:r>
          </a:p>
          <a:p>
            <a:r>
              <a:rPr lang="en-IN" sz="2400" b="1" dirty="0" err="1" smtClean="0"/>
              <a:t>pwd</a:t>
            </a:r>
            <a:r>
              <a:rPr lang="en-IN" sz="2400" dirty="0" smtClean="0"/>
              <a:t> </a:t>
            </a:r>
            <a:r>
              <a:rPr lang="en-IN" sz="2400" b="1" dirty="0" smtClean="0"/>
              <a:t>[</a:t>
            </a:r>
            <a:r>
              <a:rPr lang="en-IN" sz="2400" dirty="0" smtClean="0"/>
              <a:t>options</a:t>
            </a:r>
            <a:r>
              <a:rPr lang="en-IN" sz="2400" b="1" dirty="0" smtClean="0"/>
              <a:t>]</a:t>
            </a:r>
          </a:p>
          <a:p>
            <a:endParaRPr lang="en-IN" sz="2400" b="1" dirty="0" smtClean="0"/>
          </a:p>
          <a:p>
            <a:r>
              <a:rPr lang="en-IN" sz="2400" b="1" dirty="0" smtClean="0"/>
              <a:t>Example</a:t>
            </a:r>
          </a:p>
          <a:p>
            <a:r>
              <a:rPr lang="en-IN" sz="2400" dirty="0" smtClean="0"/>
              <a:t>To print current working directory, enter:</a:t>
            </a:r>
            <a:br>
              <a:rPr lang="en-IN" sz="2400" dirty="0" smtClean="0"/>
            </a:br>
            <a:r>
              <a:rPr lang="en-IN" sz="2400" dirty="0" smtClean="0"/>
              <a:t>$ </a:t>
            </a:r>
            <a:r>
              <a:rPr lang="en-IN" sz="2400" dirty="0" err="1" smtClean="0"/>
              <a:t>pwd</a:t>
            </a:r>
            <a:r>
              <a:rPr lang="en-IN" sz="2400" dirty="0" smtClean="0"/>
              <a:t/>
            </a:r>
            <a:br>
              <a:rPr lang="en-IN" sz="2400" dirty="0" smtClean="0"/>
            </a:br>
            <a:endParaRPr lang="en-IN" sz="2400" dirty="0" smtClean="0"/>
          </a:p>
          <a:p>
            <a:r>
              <a:rPr lang="en-IN" sz="2400" dirty="0" smtClean="0"/>
              <a:t>output:</a:t>
            </a:r>
          </a:p>
          <a:p>
            <a:r>
              <a:rPr lang="en-IN" sz="2400" dirty="0" smtClean="0"/>
              <a:t>/home/user</a:t>
            </a:r>
            <a:endParaRPr lang="en-IN" sz="2400" dirty="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27384"/>
            <a:ext cx="7488832" cy="812303"/>
          </a:xfrm>
        </p:spPr>
        <p:txBody>
          <a:bodyPr/>
          <a:lstStyle/>
          <a:p>
            <a:r>
              <a:rPr lang="en-IN" dirty="0" smtClean="0"/>
              <a:t>File &amp; Directory Commands</a:t>
            </a:r>
            <a:endParaRPr lang="en-IN" dirty="0"/>
          </a:p>
        </p:txBody>
      </p:sp>
      <p:sp>
        <p:nvSpPr>
          <p:cNvPr id="5" name="TextBox 4"/>
          <p:cNvSpPr txBox="1"/>
          <p:nvPr/>
        </p:nvSpPr>
        <p:spPr>
          <a:xfrm>
            <a:off x="1331640" y="877809"/>
            <a:ext cx="7272808" cy="5632311"/>
          </a:xfrm>
          <a:prstGeom prst="rect">
            <a:avLst/>
          </a:prstGeom>
          <a:noFill/>
        </p:spPr>
        <p:txBody>
          <a:bodyPr wrap="square" rtlCol="0">
            <a:spAutoFit/>
          </a:bodyPr>
          <a:lstStyle/>
          <a:p>
            <a:r>
              <a:rPr lang="en-IN" sz="2400" b="1" dirty="0" err="1" smtClean="0"/>
              <a:t>mv</a:t>
            </a:r>
            <a:endParaRPr lang="en-IN" sz="2400" b="1" dirty="0" smtClean="0"/>
          </a:p>
          <a:p>
            <a:r>
              <a:rPr lang="en-IN" sz="2400" dirty="0" smtClean="0"/>
              <a:t>The </a:t>
            </a:r>
            <a:r>
              <a:rPr lang="en-IN" sz="2400" b="1" i="1" dirty="0" err="1" smtClean="0"/>
              <a:t>mv</a:t>
            </a:r>
            <a:r>
              <a:rPr lang="en-IN" sz="2400" dirty="0" smtClean="0"/>
              <a:t> command allows you to move and rename files.</a:t>
            </a:r>
          </a:p>
          <a:p>
            <a:endParaRPr lang="en-IN" sz="2400" dirty="0" smtClean="0"/>
          </a:p>
          <a:p>
            <a:r>
              <a:rPr lang="en-IN" sz="2400" b="1" dirty="0" smtClean="0"/>
              <a:t>Syntax</a:t>
            </a:r>
          </a:p>
          <a:p>
            <a:r>
              <a:rPr lang="en-IN" sz="2400" dirty="0" smtClean="0"/>
              <a:t>The syntax for the </a:t>
            </a:r>
            <a:r>
              <a:rPr lang="en-IN" sz="2400" b="1" i="1" dirty="0" err="1" smtClean="0"/>
              <a:t>mv</a:t>
            </a:r>
            <a:r>
              <a:rPr lang="en-IN" sz="2400" dirty="0" smtClean="0"/>
              <a:t> command is:</a:t>
            </a:r>
          </a:p>
          <a:p>
            <a:r>
              <a:rPr lang="en-IN" sz="2400" dirty="0" err="1" smtClean="0"/>
              <a:t>mv</a:t>
            </a:r>
            <a:r>
              <a:rPr lang="en-IN" sz="2400" dirty="0" smtClean="0"/>
              <a:t> [options] sources target</a:t>
            </a:r>
          </a:p>
          <a:p>
            <a:endParaRPr lang="en-IN" sz="2400" dirty="0" smtClean="0"/>
          </a:p>
          <a:p>
            <a:r>
              <a:rPr lang="en-IN" sz="2400" b="1" dirty="0" smtClean="0"/>
              <a:t>Options</a:t>
            </a:r>
          </a:p>
          <a:p>
            <a:r>
              <a:rPr lang="en-IN" sz="2400" dirty="0" smtClean="0"/>
              <a:t>Option 	Description </a:t>
            </a:r>
          </a:p>
          <a:p>
            <a:r>
              <a:rPr lang="en-IN" sz="2400" dirty="0" smtClean="0"/>
              <a:t>-f 		Forces the move. </a:t>
            </a:r>
          </a:p>
          <a:p>
            <a:r>
              <a:rPr lang="en-IN" sz="2400" dirty="0" smtClean="0"/>
              <a:t>-</a:t>
            </a:r>
            <a:r>
              <a:rPr lang="en-IN" sz="2400" dirty="0" err="1" smtClean="0"/>
              <a:t>i</a:t>
            </a:r>
            <a:r>
              <a:rPr lang="en-IN" sz="2400" dirty="0" smtClean="0"/>
              <a:t> 		Prompt for a confirmation before 			overwriting any files.</a:t>
            </a:r>
          </a:p>
          <a:p>
            <a:endParaRPr lang="en-IN" sz="2400" dirty="0" smtClean="0"/>
          </a:p>
          <a:p>
            <a:r>
              <a:rPr lang="en-IN" sz="2400" b="1" dirty="0" smtClean="0"/>
              <a:t>Example</a:t>
            </a:r>
          </a:p>
          <a:p>
            <a:r>
              <a:rPr lang="en-IN" sz="2400" dirty="0" err="1" smtClean="0"/>
              <a:t>mv</a:t>
            </a:r>
            <a:r>
              <a:rPr lang="en-IN" sz="2400" dirty="0" smtClean="0"/>
              <a:t> -f tech /</a:t>
            </a:r>
            <a:r>
              <a:rPr lang="en-IN" sz="2400" dirty="0" err="1" smtClean="0"/>
              <a:t>usr</a:t>
            </a:r>
            <a:endParaRPr lang="en-IN" sz="2400" dirty="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27384"/>
            <a:ext cx="7488832" cy="812303"/>
          </a:xfrm>
        </p:spPr>
        <p:txBody>
          <a:bodyPr/>
          <a:lstStyle/>
          <a:p>
            <a:r>
              <a:rPr lang="en-IN" dirty="0" smtClean="0"/>
              <a:t>File &amp; Directory Commands</a:t>
            </a:r>
            <a:endParaRPr lang="en-IN" dirty="0"/>
          </a:p>
        </p:txBody>
      </p:sp>
      <p:sp>
        <p:nvSpPr>
          <p:cNvPr id="5" name="TextBox 4"/>
          <p:cNvSpPr txBox="1"/>
          <p:nvPr/>
        </p:nvSpPr>
        <p:spPr>
          <a:xfrm>
            <a:off x="1331640" y="877809"/>
            <a:ext cx="7272808" cy="5262979"/>
          </a:xfrm>
          <a:prstGeom prst="rect">
            <a:avLst/>
          </a:prstGeom>
          <a:noFill/>
        </p:spPr>
        <p:txBody>
          <a:bodyPr wrap="square" rtlCol="0">
            <a:spAutoFit/>
          </a:bodyPr>
          <a:lstStyle/>
          <a:p>
            <a:r>
              <a:rPr lang="en-IN" sz="2400" b="1" dirty="0" smtClean="0"/>
              <a:t>cp</a:t>
            </a:r>
            <a:r>
              <a:rPr lang="en-IN" sz="2400" dirty="0" smtClean="0"/>
              <a:t> </a:t>
            </a:r>
          </a:p>
          <a:p>
            <a:r>
              <a:rPr lang="en-IN" sz="2400" dirty="0" smtClean="0"/>
              <a:t>To copy one or more files to another location.</a:t>
            </a:r>
          </a:p>
          <a:p>
            <a:endParaRPr lang="en-IN" sz="2400" dirty="0" smtClean="0"/>
          </a:p>
          <a:p>
            <a:r>
              <a:rPr lang="fr-FR" sz="2400" b="1" dirty="0" smtClean="0"/>
              <a:t>SYNTAX</a:t>
            </a:r>
          </a:p>
          <a:p>
            <a:r>
              <a:rPr lang="fr-FR" sz="2400" dirty="0" err="1" smtClean="0"/>
              <a:t>cp</a:t>
            </a:r>
            <a:r>
              <a:rPr lang="fr-FR" sz="2400" dirty="0" smtClean="0"/>
              <a:t> [options]... Source Dest</a:t>
            </a:r>
          </a:p>
          <a:p>
            <a:endParaRPr lang="fr-FR" sz="2400" dirty="0" smtClean="0"/>
          </a:p>
          <a:p>
            <a:r>
              <a:rPr lang="en-IN" sz="2400" b="1" dirty="0" smtClean="0"/>
              <a:t>EXAMPLES</a:t>
            </a:r>
          </a:p>
          <a:p>
            <a:r>
              <a:rPr lang="en-IN" sz="2400" dirty="0" smtClean="0"/>
              <a:t>Copy sample.txt to sample.bak.</a:t>
            </a:r>
          </a:p>
          <a:p>
            <a:r>
              <a:rPr lang="en-IN" sz="2400" dirty="0" smtClean="0"/>
              <a:t>$ cat sample.txt </a:t>
            </a:r>
          </a:p>
          <a:p>
            <a:r>
              <a:rPr lang="en-IN" sz="2400" dirty="0" smtClean="0"/>
              <a:t>This is a sample file </a:t>
            </a:r>
          </a:p>
          <a:p>
            <a:endParaRPr lang="en-IN" sz="2400" dirty="0" smtClean="0"/>
          </a:p>
          <a:p>
            <a:r>
              <a:rPr lang="en-IN" sz="2400" dirty="0" smtClean="0"/>
              <a:t>$ cp sample.txt sample.bak </a:t>
            </a:r>
          </a:p>
          <a:p>
            <a:r>
              <a:rPr lang="en-IN" sz="2400" dirty="0" smtClean="0"/>
              <a:t>$ cat sample.bak </a:t>
            </a:r>
          </a:p>
          <a:p>
            <a:r>
              <a:rPr lang="en-IN" sz="2400" dirty="0" smtClean="0"/>
              <a:t>This is a sample file </a:t>
            </a:r>
            <a:endParaRPr lang="en-IN" sz="2400" dirty="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27384"/>
            <a:ext cx="7488832" cy="812303"/>
          </a:xfrm>
        </p:spPr>
        <p:txBody>
          <a:bodyPr/>
          <a:lstStyle/>
          <a:p>
            <a:r>
              <a:rPr lang="en-IN" dirty="0" smtClean="0"/>
              <a:t>File &amp; Directory Commands</a:t>
            </a:r>
            <a:endParaRPr lang="en-IN" dirty="0"/>
          </a:p>
        </p:txBody>
      </p:sp>
      <p:sp>
        <p:nvSpPr>
          <p:cNvPr id="5" name="TextBox 4"/>
          <p:cNvSpPr txBox="1"/>
          <p:nvPr/>
        </p:nvSpPr>
        <p:spPr>
          <a:xfrm>
            <a:off x="1331640" y="877809"/>
            <a:ext cx="7272808" cy="5262979"/>
          </a:xfrm>
          <a:prstGeom prst="rect">
            <a:avLst/>
          </a:prstGeom>
          <a:noFill/>
        </p:spPr>
        <p:txBody>
          <a:bodyPr wrap="square" rtlCol="0">
            <a:spAutoFit/>
          </a:bodyPr>
          <a:lstStyle/>
          <a:p>
            <a:r>
              <a:rPr lang="en-IN" sz="2400" b="1" dirty="0" err="1" smtClean="0"/>
              <a:t>ln</a:t>
            </a:r>
            <a:r>
              <a:rPr lang="en-IN" sz="2400" dirty="0" smtClean="0"/>
              <a:t> </a:t>
            </a:r>
          </a:p>
          <a:p>
            <a:r>
              <a:rPr lang="en-IN" sz="2400" dirty="0" smtClean="0"/>
              <a:t>creates links between files. </a:t>
            </a:r>
            <a:r>
              <a:rPr lang="en-IN" sz="2400" b="1" dirty="0" err="1" smtClean="0"/>
              <a:t>ln</a:t>
            </a:r>
            <a:r>
              <a:rPr lang="en-IN" sz="2400" dirty="0" smtClean="0"/>
              <a:t> creates a link to file </a:t>
            </a:r>
            <a:r>
              <a:rPr lang="en-IN" sz="2400" i="1" dirty="0" smtClean="0"/>
              <a:t>TARGET</a:t>
            </a:r>
            <a:r>
              <a:rPr lang="en-IN" sz="2400" dirty="0" smtClean="0"/>
              <a:t> with the name </a:t>
            </a:r>
            <a:r>
              <a:rPr lang="en-IN" sz="2400" i="1" dirty="0" smtClean="0"/>
              <a:t>LINKNAME</a:t>
            </a:r>
            <a:r>
              <a:rPr lang="en-IN" sz="2400" dirty="0" smtClean="0"/>
              <a:t>.</a:t>
            </a:r>
          </a:p>
          <a:p>
            <a:endParaRPr lang="en-IN" sz="2400" dirty="0" smtClean="0"/>
          </a:p>
          <a:p>
            <a:r>
              <a:rPr lang="en-IN" sz="2400" b="1" dirty="0" smtClean="0"/>
              <a:t>Syntax</a:t>
            </a:r>
          </a:p>
          <a:p>
            <a:r>
              <a:rPr lang="en-IN" sz="2400" dirty="0" smtClean="0"/>
              <a:t>$ </a:t>
            </a:r>
            <a:r>
              <a:rPr lang="en-IN" sz="2400" dirty="0" err="1" smtClean="0"/>
              <a:t>ln</a:t>
            </a:r>
            <a:r>
              <a:rPr lang="en-IN" sz="2400" dirty="0" smtClean="0"/>
              <a:t> file1 file2</a:t>
            </a:r>
          </a:p>
          <a:p>
            <a:endParaRPr lang="en-IN" sz="2400" dirty="0" smtClean="0"/>
          </a:p>
          <a:p>
            <a:r>
              <a:rPr lang="en-IN" sz="2400" b="1" dirty="0" smtClean="0"/>
              <a:t>Example</a:t>
            </a:r>
          </a:p>
          <a:p>
            <a:r>
              <a:rPr lang="en-IN" sz="2400" dirty="0" smtClean="0"/>
              <a:t>$ cat target.txt </a:t>
            </a:r>
          </a:p>
          <a:p>
            <a:r>
              <a:rPr lang="en-IN" sz="2400" dirty="0" smtClean="0"/>
              <a:t>target file </a:t>
            </a:r>
          </a:p>
          <a:p>
            <a:endParaRPr lang="en-IN" sz="2400" dirty="0" smtClean="0"/>
          </a:p>
          <a:p>
            <a:r>
              <a:rPr lang="en-IN" sz="2400" dirty="0" smtClean="0"/>
              <a:t>$ </a:t>
            </a:r>
            <a:r>
              <a:rPr lang="en-IN" sz="2400" dirty="0" err="1" smtClean="0"/>
              <a:t>ln</a:t>
            </a:r>
            <a:r>
              <a:rPr lang="en-IN" sz="2400" dirty="0" smtClean="0"/>
              <a:t> target.txt link.txt</a:t>
            </a:r>
          </a:p>
          <a:p>
            <a:r>
              <a:rPr lang="en-IN" sz="2400" dirty="0" smtClean="0"/>
              <a:t>$ cat link.txt </a:t>
            </a:r>
          </a:p>
          <a:p>
            <a:r>
              <a:rPr lang="en-IN" sz="2400" dirty="0" smtClean="0"/>
              <a:t>target file</a:t>
            </a:r>
            <a:endParaRPr lang="en-IN" sz="2400" dirty="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27384"/>
            <a:ext cx="7488832" cy="812303"/>
          </a:xfrm>
        </p:spPr>
        <p:txBody>
          <a:bodyPr/>
          <a:lstStyle/>
          <a:p>
            <a:r>
              <a:rPr lang="en-IN" dirty="0" smtClean="0"/>
              <a:t>File &amp; Directory Commands</a:t>
            </a:r>
            <a:endParaRPr lang="en-IN" dirty="0"/>
          </a:p>
        </p:txBody>
      </p:sp>
      <p:sp>
        <p:nvSpPr>
          <p:cNvPr id="5" name="TextBox 4"/>
          <p:cNvSpPr txBox="1"/>
          <p:nvPr/>
        </p:nvSpPr>
        <p:spPr>
          <a:xfrm>
            <a:off x="1331640" y="620688"/>
            <a:ext cx="7272808" cy="6001643"/>
          </a:xfrm>
          <a:prstGeom prst="rect">
            <a:avLst/>
          </a:prstGeom>
          <a:noFill/>
        </p:spPr>
        <p:txBody>
          <a:bodyPr wrap="square" rtlCol="0">
            <a:spAutoFit/>
          </a:bodyPr>
          <a:lstStyle/>
          <a:p>
            <a:r>
              <a:rPr lang="en-IN" sz="2400" b="1" dirty="0" err="1" smtClean="0"/>
              <a:t>rm</a:t>
            </a:r>
            <a:r>
              <a:rPr lang="en-IN" sz="2400" dirty="0" smtClean="0"/>
              <a:t> </a:t>
            </a:r>
          </a:p>
          <a:p>
            <a:r>
              <a:rPr lang="en-IN" sz="2400" b="1" dirty="0" err="1" smtClean="0"/>
              <a:t>rm</a:t>
            </a:r>
            <a:r>
              <a:rPr lang="en-IN" sz="2400" b="1" dirty="0" smtClean="0"/>
              <a:t> </a:t>
            </a:r>
            <a:r>
              <a:rPr lang="en-IN" sz="2400" dirty="0" smtClean="0"/>
              <a:t>removes each specified file. By default, it does not remove directories.</a:t>
            </a:r>
          </a:p>
          <a:p>
            <a:r>
              <a:rPr lang="en-IN" sz="2400" b="1" dirty="0" smtClean="0"/>
              <a:t>SYNTAX</a:t>
            </a:r>
          </a:p>
          <a:p>
            <a:r>
              <a:rPr lang="en-IN" sz="2400" dirty="0" err="1" smtClean="0"/>
              <a:t>rm</a:t>
            </a:r>
            <a:r>
              <a:rPr lang="en-IN" sz="2400" dirty="0" smtClean="0"/>
              <a:t> [OPTION]... FILE...</a:t>
            </a:r>
          </a:p>
          <a:p>
            <a:endParaRPr lang="en-IN" sz="2400" dirty="0" smtClean="0"/>
          </a:p>
          <a:p>
            <a:r>
              <a:rPr lang="en-IN" sz="2400" b="1" dirty="0" smtClean="0"/>
              <a:t>Example-1:</a:t>
            </a:r>
            <a:endParaRPr lang="en-IN" sz="2400" dirty="0" smtClean="0"/>
          </a:p>
          <a:p>
            <a:r>
              <a:rPr lang="en-IN" sz="2400" dirty="0" smtClean="0"/>
              <a:t>Remove the file myfile.txt. If the file is write-protected, you will be prompted to confirm that you really want to delete it:</a:t>
            </a:r>
          </a:p>
          <a:p>
            <a:r>
              <a:rPr lang="en-IN" sz="2400" dirty="0" smtClean="0"/>
              <a:t>$ </a:t>
            </a:r>
            <a:r>
              <a:rPr lang="en-IN" sz="2400" dirty="0" err="1" smtClean="0"/>
              <a:t>rm</a:t>
            </a:r>
            <a:r>
              <a:rPr lang="en-IN" sz="2400" dirty="0" smtClean="0"/>
              <a:t> myfile.txt</a:t>
            </a:r>
          </a:p>
          <a:p>
            <a:r>
              <a:rPr lang="en-US" sz="2400" dirty="0" smtClean="0"/>
              <a:t>$</a:t>
            </a:r>
            <a:r>
              <a:rPr lang="en-US" sz="2400" dirty="0" err="1" smtClean="0"/>
              <a:t>rm</a:t>
            </a:r>
            <a:r>
              <a:rPr lang="en-US" sz="2400" dirty="0" smtClean="0"/>
              <a:t> </a:t>
            </a:r>
            <a:r>
              <a:rPr lang="en-US" sz="2400" dirty="0"/>
              <a:t>-r </a:t>
            </a:r>
            <a:r>
              <a:rPr lang="en-US" sz="2400" dirty="0" err="1"/>
              <a:t>folder_name</a:t>
            </a:r>
            <a:endParaRPr lang="en-IN" sz="2400" dirty="0" smtClean="0"/>
          </a:p>
          <a:p>
            <a:r>
              <a:rPr lang="en-IN" sz="2400" b="1" dirty="0" smtClean="0"/>
              <a:t>Example-2:</a:t>
            </a:r>
            <a:endParaRPr lang="en-IN" sz="2400" dirty="0" smtClean="0"/>
          </a:p>
          <a:p>
            <a:r>
              <a:rPr lang="en-IN" sz="2400" dirty="0" smtClean="0"/>
              <a:t>Remove the file myfile.txt. You will not be prompted, if the file is write-protected .</a:t>
            </a:r>
          </a:p>
          <a:p>
            <a:r>
              <a:rPr lang="en-IN" sz="2400" dirty="0" smtClean="0"/>
              <a:t>$ </a:t>
            </a:r>
            <a:r>
              <a:rPr lang="en-IN" sz="2400" dirty="0" err="1" smtClean="0"/>
              <a:t>rm</a:t>
            </a:r>
            <a:r>
              <a:rPr lang="en-IN" sz="2400" dirty="0" smtClean="0"/>
              <a:t> -f myfile.txt</a:t>
            </a:r>
            <a:endParaRPr lang="en-IN" sz="2400" dirty="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27384"/>
            <a:ext cx="7488832" cy="812303"/>
          </a:xfrm>
        </p:spPr>
        <p:txBody>
          <a:bodyPr/>
          <a:lstStyle/>
          <a:p>
            <a:r>
              <a:rPr lang="en-IN" dirty="0" smtClean="0"/>
              <a:t>File &amp; Directory Commands</a:t>
            </a:r>
            <a:endParaRPr lang="en-IN" dirty="0"/>
          </a:p>
        </p:txBody>
      </p:sp>
      <p:sp>
        <p:nvSpPr>
          <p:cNvPr id="5" name="TextBox 4"/>
          <p:cNvSpPr txBox="1"/>
          <p:nvPr/>
        </p:nvSpPr>
        <p:spPr>
          <a:xfrm>
            <a:off x="1331640" y="930200"/>
            <a:ext cx="7272808" cy="4154984"/>
          </a:xfrm>
          <a:prstGeom prst="rect">
            <a:avLst/>
          </a:prstGeom>
          <a:noFill/>
        </p:spPr>
        <p:txBody>
          <a:bodyPr wrap="square" rtlCol="0">
            <a:spAutoFit/>
          </a:bodyPr>
          <a:lstStyle/>
          <a:p>
            <a:r>
              <a:rPr lang="en-IN" sz="2400" b="1" dirty="0" err="1" smtClean="0"/>
              <a:t>rmdir</a:t>
            </a:r>
            <a:r>
              <a:rPr lang="en-IN" sz="2400" dirty="0" smtClean="0"/>
              <a:t> </a:t>
            </a:r>
          </a:p>
          <a:p>
            <a:r>
              <a:rPr lang="en-IN" sz="2400" dirty="0" smtClean="0"/>
              <a:t>Remove the DIRECTORY(</a:t>
            </a:r>
            <a:r>
              <a:rPr lang="en-IN" sz="2400" dirty="0" err="1" smtClean="0"/>
              <a:t>ies</a:t>
            </a:r>
            <a:r>
              <a:rPr lang="en-IN" sz="2400" dirty="0" smtClean="0"/>
              <a:t>), if they are empty.  </a:t>
            </a:r>
          </a:p>
          <a:p>
            <a:endParaRPr lang="en-IN" sz="2400" b="1" dirty="0" smtClean="0"/>
          </a:p>
          <a:p>
            <a:r>
              <a:rPr lang="en-IN" sz="2400" b="1" dirty="0" smtClean="0"/>
              <a:t>Syntax :</a:t>
            </a:r>
          </a:p>
          <a:p>
            <a:r>
              <a:rPr lang="en-IN" sz="2400" dirty="0" err="1" smtClean="0"/>
              <a:t>rmdir</a:t>
            </a:r>
            <a:r>
              <a:rPr lang="en-IN" sz="2400" dirty="0" smtClean="0"/>
              <a:t> [OPTION]... DIRECTORY...</a:t>
            </a:r>
          </a:p>
          <a:p>
            <a:endParaRPr lang="en-IN" sz="2400" dirty="0" smtClean="0"/>
          </a:p>
          <a:p>
            <a:r>
              <a:rPr lang="en-IN" sz="2400" b="1" dirty="0" smtClean="0"/>
              <a:t>Example :</a:t>
            </a:r>
            <a:endParaRPr lang="en-IN" sz="2400" dirty="0" smtClean="0"/>
          </a:p>
          <a:p>
            <a:r>
              <a:rPr lang="en-IN" sz="2400" dirty="0" err="1" smtClean="0"/>
              <a:t>rmdir</a:t>
            </a:r>
            <a:r>
              <a:rPr lang="en-IN" sz="2400" dirty="0" smtClean="0"/>
              <a:t> command will delete the empty directories. </a:t>
            </a:r>
            <a:r>
              <a:rPr lang="en-IN" sz="2400" dirty="0" err="1" smtClean="0"/>
              <a:t>i.e</a:t>
            </a:r>
            <a:r>
              <a:rPr lang="en-IN" sz="2400" dirty="0" smtClean="0"/>
              <a:t> directory without any sub-directories or files:</a:t>
            </a:r>
          </a:p>
          <a:p>
            <a:endParaRPr lang="en-IN" sz="2400" dirty="0" smtClean="0"/>
          </a:p>
          <a:p>
            <a:r>
              <a:rPr lang="en-IN" sz="2400" dirty="0" smtClean="0"/>
              <a:t>$ </a:t>
            </a:r>
            <a:r>
              <a:rPr lang="en-IN" sz="2400" dirty="0" err="1" smtClean="0"/>
              <a:t>rmdir</a:t>
            </a:r>
            <a:r>
              <a:rPr lang="en-IN" sz="2400" dirty="0" smtClean="0"/>
              <a:t> test</a:t>
            </a:r>
            <a:endParaRPr lang="en-IN" sz="2400" dirty="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27384"/>
            <a:ext cx="7488832" cy="812303"/>
          </a:xfrm>
        </p:spPr>
        <p:txBody>
          <a:bodyPr/>
          <a:lstStyle/>
          <a:p>
            <a:r>
              <a:rPr lang="en-IN" dirty="0" smtClean="0"/>
              <a:t>File &amp; Directory Commands</a:t>
            </a:r>
            <a:endParaRPr lang="en-IN" dirty="0"/>
          </a:p>
        </p:txBody>
      </p:sp>
      <p:sp>
        <p:nvSpPr>
          <p:cNvPr id="5" name="TextBox 4"/>
          <p:cNvSpPr txBox="1"/>
          <p:nvPr/>
        </p:nvSpPr>
        <p:spPr>
          <a:xfrm>
            <a:off x="1331640" y="930200"/>
            <a:ext cx="7272808" cy="6370975"/>
          </a:xfrm>
          <a:prstGeom prst="rect">
            <a:avLst/>
          </a:prstGeom>
          <a:noFill/>
        </p:spPr>
        <p:txBody>
          <a:bodyPr wrap="square" rtlCol="0">
            <a:spAutoFit/>
          </a:bodyPr>
          <a:lstStyle/>
          <a:p>
            <a:r>
              <a:rPr lang="en-IN" sz="2400" b="1" dirty="0" err="1" smtClean="0"/>
              <a:t>mkdir</a:t>
            </a:r>
            <a:r>
              <a:rPr lang="en-IN" sz="2400" dirty="0" smtClean="0"/>
              <a:t> </a:t>
            </a:r>
          </a:p>
          <a:p>
            <a:r>
              <a:rPr lang="en-IN" sz="2400" dirty="0" smtClean="0"/>
              <a:t>Create the DIRECTORY(</a:t>
            </a:r>
            <a:r>
              <a:rPr lang="en-IN" sz="2400" dirty="0" err="1" smtClean="0"/>
              <a:t>ies</a:t>
            </a:r>
            <a:r>
              <a:rPr lang="en-IN" sz="2400" dirty="0" smtClean="0"/>
              <a:t>), if they do not already exist. </a:t>
            </a:r>
          </a:p>
          <a:p>
            <a:endParaRPr lang="en-IN" sz="2400" b="1" dirty="0" smtClean="0"/>
          </a:p>
          <a:p>
            <a:r>
              <a:rPr lang="en-IN" sz="2400" b="1" dirty="0" smtClean="0"/>
              <a:t>Syntax :</a:t>
            </a:r>
          </a:p>
          <a:p>
            <a:r>
              <a:rPr lang="en-IN" sz="2400" dirty="0" err="1" smtClean="0"/>
              <a:t>mkdir</a:t>
            </a:r>
            <a:r>
              <a:rPr lang="en-IN" sz="2400" dirty="0" smtClean="0"/>
              <a:t> [OPTION]... DIRECTORY...</a:t>
            </a:r>
          </a:p>
          <a:p>
            <a:endParaRPr lang="en-IN" sz="2400" dirty="0" smtClean="0"/>
          </a:p>
          <a:p>
            <a:r>
              <a:rPr lang="en-IN" sz="2400" b="1" dirty="0" smtClean="0"/>
              <a:t>Example :</a:t>
            </a:r>
            <a:endParaRPr lang="en-IN" sz="2400" dirty="0" smtClean="0"/>
          </a:p>
          <a:p>
            <a:r>
              <a:rPr lang="en-IN" sz="2400" dirty="0" smtClean="0"/>
              <a:t>Creates a new directory called </a:t>
            </a:r>
            <a:r>
              <a:rPr lang="en-IN" sz="2400" dirty="0" err="1" smtClean="0"/>
              <a:t>mydir</a:t>
            </a:r>
            <a:r>
              <a:rPr lang="en-IN" sz="2400" dirty="0" smtClean="0"/>
              <a:t> whose parent is the current directory.</a:t>
            </a:r>
          </a:p>
          <a:p>
            <a:r>
              <a:rPr lang="en-US" sz="2400" dirty="0"/>
              <a:t>Also we can make multiple directory using following command: </a:t>
            </a:r>
            <a:endParaRPr lang="en-US" sz="2400" dirty="0" smtClean="0"/>
          </a:p>
          <a:p>
            <a:r>
              <a:rPr lang="en-US" sz="2400" dirty="0"/>
              <a:t>$</a:t>
            </a:r>
            <a:r>
              <a:rPr lang="en-US" sz="2400" dirty="0" err="1" smtClean="0"/>
              <a:t>mkdir</a:t>
            </a:r>
            <a:r>
              <a:rPr lang="en-US" sz="2400" dirty="0" smtClean="0"/>
              <a:t> </a:t>
            </a:r>
            <a:r>
              <a:rPr lang="en-US" sz="2400" dirty="0" err="1"/>
              <a:t>bca</a:t>
            </a:r>
            <a:r>
              <a:rPr lang="en-US" sz="2400" dirty="0"/>
              <a:t> </a:t>
            </a:r>
            <a:r>
              <a:rPr lang="en-US" sz="2400" dirty="0" err="1"/>
              <a:t>bscit</a:t>
            </a:r>
            <a:endParaRPr lang="en-IN" sz="2400" dirty="0" smtClean="0"/>
          </a:p>
          <a:p>
            <a:r>
              <a:rPr lang="en-IN" sz="2400" dirty="0" smtClean="0"/>
              <a:t>$ </a:t>
            </a:r>
            <a:r>
              <a:rPr lang="en-IN" sz="2400" dirty="0" err="1" smtClean="0"/>
              <a:t>mkdir</a:t>
            </a:r>
            <a:r>
              <a:rPr lang="en-IN" sz="2400" dirty="0" smtClean="0"/>
              <a:t> </a:t>
            </a:r>
            <a:r>
              <a:rPr lang="en-IN" sz="2400" dirty="0" err="1" smtClean="0"/>
              <a:t>mydir</a:t>
            </a:r>
            <a:endParaRPr lang="en-IN" sz="2400" dirty="0" smtClean="0"/>
          </a:p>
          <a:p>
            <a:endParaRPr lang="en-IN" sz="2400" i="1" dirty="0" smtClean="0"/>
          </a:p>
          <a:p>
            <a:r>
              <a:rPr lang="en-IN" sz="2400" i="1" dirty="0" smtClean="0"/>
              <a:t>output:</a:t>
            </a:r>
            <a:endParaRPr lang="en-IN" sz="2400" dirty="0" smtClean="0"/>
          </a:p>
          <a:p>
            <a:r>
              <a:rPr lang="en-IN" sz="2400" i="1" dirty="0" smtClean="0"/>
              <a:t>$</a:t>
            </a:r>
            <a:r>
              <a:rPr lang="en-IN" sz="2400" i="1" dirty="0" err="1" smtClean="0"/>
              <a:t>ls</a:t>
            </a:r>
            <a:endParaRPr lang="en-IN" sz="2400" dirty="0" smtClean="0"/>
          </a:p>
          <a:p>
            <a:r>
              <a:rPr lang="en-IN" sz="2400" dirty="0" err="1" smtClean="0"/>
              <a:t>mydir</a:t>
            </a:r>
            <a:endParaRPr lang="en-IN" sz="2400" dirty="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27384"/>
            <a:ext cx="7488832" cy="812303"/>
          </a:xfrm>
        </p:spPr>
        <p:txBody>
          <a:bodyPr/>
          <a:lstStyle/>
          <a:p>
            <a:r>
              <a:rPr lang="en-IN" dirty="0" smtClean="0"/>
              <a:t>File &amp; Directory Commands</a:t>
            </a:r>
            <a:endParaRPr lang="en-IN" dirty="0"/>
          </a:p>
        </p:txBody>
      </p:sp>
      <p:sp>
        <p:nvSpPr>
          <p:cNvPr id="5" name="TextBox 4"/>
          <p:cNvSpPr txBox="1"/>
          <p:nvPr/>
        </p:nvSpPr>
        <p:spPr>
          <a:xfrm>
            <a:off x="1331640" y="764704"/>
            <a:ext cx="7272808" cy="6001643"/>
          </a:xfrm>
          <a:prstGeom prst="rect">
            <a:avLst/>
          </a:prstGeom>
          <a:noFill/>
        </p:spPr>
        <p:txBody>
          <a:bodyPr wrap="square" rtlCol="0">
            <a:spAutoFit/>
          </a:bodyPr>
          <a:lstStyle/>
          <a:p>
            <a:r>
              <a:rPr lang="en-IN" sz="2400" b="1" dirty="0" err="1" smtClean="0"/>
              <a:t>umask</a:t>
            </a:r>
            <a:r>
              <a:rPr lang="en-IN" sz="2400" dirty="0" smtClean="0"/>
              <a:t> </a:t>
            </a:r>
          </a:p>
          <a:p>
            <a:r>
              <a:rPr lang="en-IN" sz="2400" dirty="0" smtClean="0"/>
              <a:t>a new file's permissions may be </a:t>
            </a:r>
            <a:r>
              <a:rPr lang="en-IN" sz="2400" i="1" dirty="0" smtClean="0"/>
              <a:t>restricted</a:t>
            </a:r>
            <a:r>
              <a:rPr lang="en-IN" sz="2400" dirty="0" smtClean="0"/>
              <a:t> in a specific way by applying a permissions "mask" called the </a:t>
            </a:r>
            <a:r>
              <a:rPr lang="en-IN" sz="2400" b="1" dirty="0" err="1" smtClean="0"/>
              <a:t>umask</a:t>
            </a:r>
            <a:r>
              <a:rPr lang="en-IN" sz="2400" dirty="0" smtClean="0"/>
              <a:t>. The </a:t>
            </a:r>
            <a:r>
              <a:rPr lang="en-IN" sz="2400" b="1" dirty="0" err="1" smtClean="0"/>
              <a:t>umask</a:t>
            </a:r>
            <a:r>
              <a:rPr lang="en-IN" sz="2400" dirty="0" smtClean="0"/>
              <a:t> command is used to set this mask, or to show you its current value. </a:t>
            </a:r>
          </a:p>
          <a:p>
            <a:endParaRPr lang="en-IN" sz="2400" b="1" dirty="0" smtClean="0"/>
          </a:p>
          <a:p>
            <a:r>
              <a:rPr lang="da-DK" sz="2400" b="1" dirty="0" smtClean="0"/>
              <a:t>Syntax</a:t>
            </a:r>
          </a:p>
          <a:p>
            <a:r>
              <a:rPr lang="da-DK" sz="2400" dirty="0" smtClean="0"/>
              <a:t>$ umask [-S] [</a:t>
            </a:r>
            <a:r>
              <a:rPr lang="da-DK" sz="2400" i="1" dirty="0" smtClean="0"/>
              <a:t>mask</a:t>
            </a:r>
            <a:r>
              <a:rPr lang="da-DK" sz="2400" dirty="0" smtClean="0"/>
              <a:t>]</a:t>
            </a:r>
          </a:p>
          <a:p>
            <a:endParaRPr lang="da-DK" sz="2400" dirty="0" smtClean="0"/>
          </a:p>
          <a:p>
            <a:r>
              <a:rPr lang="en-IN" sz="2400" b="1" dirty="0" smtClean="0"/>
              <a:t>Options</a:t>
            </a:r>
          </a:p>
          <a:p>
            <a:r>
              <a:rPr lang="en-IN" sz="2400" b="1" dirty="0" smtClean="0"/>
              <a:t>-S</a:t>
            </a:r>
            <a:r>
              <a:rPr lang="en-IN" sz="2400" dirty="0" smtClean="0"/>
              <a:t>       	Accept a symbolic representation of a </a:t>
            </a:r>
            <a:r>
              <a:rPr lang="en-IN" sz="2400" i="1" dirty="0" smtClean="0"/>
              <a:t>mask</a:t>
            </a:r>
            <a:r>
              <a:rPr lang="en-IN" sz="2400" dirty="0" smtClean="0"/>
              <a:t>, or 	return one.</a:t>
            </a:r>
          </a:p>
          <a:p>
            <a:endParaRPr lang="en-IN" sz="2400" dirty="0" smtClean="0"/>
          </a:p>
          <a:p>
            <a:r>
              <a:rPr lang="en-IN" sz="2400" dirty="0" smtClean="0"/>
              <a:t>To view your system's current </a:t>
            </a:r>
            <a:r>
              <a:rPr lang="en-IN" sz="2400" b="1" dirty="0" err="1" smtClean="0"/>
              <a:t>umask</a:t>
            </a:r>
            <a:r>
              <a:rPr lang="en-IN" sz="2400" dirty="0" smtClean="0"/>
              <a:t> value, enter the command:</a:t>
            </a:r>
          </a:p>
          <a:p>
            <a:r>
              <a:rPr lang="en-IN" sz="2400" dirty="0" smtClean="0"/>
              <a:t>$ </a:t>
            </a:r>
            <a:r>
              <a:rPr lang="en-IN" sz="2400" dirty="0" err="1" smtClean="0"/>
              <a:t>umask</a:t>
            </a:r>
            <a:endParaRPr lang="en-IN" sz="2400" dirty="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27384"/>
            <a:ext cx="7488832" cy="812303"/>
          </a:xfrm>
        </p:spPr>
        <p:txBody>
          <a:bodyPr/>
          <a:lstStyle/>
          <a:p>
            <a:r>
              <a:rPr lang="en-IN" dirty="0" smtClean="0"/>
              <a:t>File &amp; Directory Commands</a:t>
            </a:r>
            <a:endParaRPr lang="en-IN" dirty="0"/>
          </a:p>
        </p:txBody>
      </p:sp>
      <p:sp>
        <p:nvSpPr>
          <p:cNvPr id="5" name="TextBox 4"/>
          <p:cNvSpPr txBox="1"/>
          <p:nvPr/>
        </p:nvSpPr>
        <p:spPr>
          <a:xfrm>
            <a:off x="1331640" y="1055633"/>
            <a:ext cx="7272808" cy="4893647"/>
          </a:xfrm>
          <a:prstGeom prst="rect">
            <a:avLst/>
          </a:prstGeom>
          <a:noFill/>
        </p:spPr>
        <p:txBody>
          <a:bodyPr wrap="square" rtlCol="0">
            <a:spAutoFit/>
          </a:bodyPr>
          <a:lstStyle/>
          <a:p>
            <a:r>
              <a:rPr lang="en-IN" sz="2400" dirty="0" smtClean="0"/>
              <a:t>which will return your system's </a:t>
            </a:r>
            <a:r>
              <a:rPr lang="en-IN" sz="2400" dirty="0" err="1" smtClean="0"/>
              <a:t>umask</a:t>
            </a:r>
            <a:r>
              <a:rPr lang="en-IN" sz="2400" dirty="0" smtClean="0"/>
              <a:t> as a four-digit octal number, for example:</a:t>
            </a:r>
          </a:p>
          <a:p>
            <a:endParaRPr lang="en-IN" sz="2400" dirty="0" smtClean="0"/>
          </a:p>
          <a:p>
            <a:r>
              <a:rPr lang="en-IN" sz="2400" dirty="0" smtClean="0"/>
              <a:t>0002</a:t>
            </a:r>
          </a:p>
          <a:p>
            <a:r>
              <a:rPr lang="en-IN" sz="2400" b="1" dirty="0" smtClean="0"/>
              <a:t>0002</a:t>
            </a:r>
            <a:r>
              <a:rPr lang="en-IN" sz="2400" dirty="0" smtClean="0"/>
              <a:t> is the same as </a:t>
            </a:r>
            <a:r>
              <a:rPr lang="en-IN" sz="2400" b="1" dirty="0" smtClean="0"/>
              <a:t>002</a:t>
            </a:r>
            <a:r>
              <a:rPr lang="en-IN" sz="2400" dirty="0" smtClean="0"/>
              <a:t>.</a:t>
            </a:r>
          </a:p>
          <a:p>
            <a:endParaRPr lang="en-IN" sz="2400" dirty="0" smtClean="0"/>
          </a:p>
          <a:p>
            <a:r>
              <a:rPr lang="en-IN" sz="2400" dirty="0" smtClean="0"/>
              <a:t>To view this as a symbolic representation, use the </a:t>
            </a:r>
            <a:r>
              <a:rPr lang="en-IN" sz="2400" b="1" dirty="0" smtClean="0"/>
              <a:t>-S</a:t>
            </a:r>
            <a:r>
              <a:rPr lang="en-IN" sz="2400" dirty="0" smtClean="0"/>
              <a:t> flag:</a:t>
            </a:r>
          </a:p>
          <a:p>
            <a:endParaRPr lang="en-IN" sz="2400" dirty="0" smtClean="0"/>
          </a:p>
          <a:p>
            <a:r>
              <a:rPr lang="en-IN" sz="2400" dirty="0" smtClean="0"/>
              <a:t>$ </a:t>
            </a:r>
            <a:r>
              <a:rPr lang="en-IN" sz="2400" dirty="0" err="1" smtClean="0"/>
              <a:t>umask</a:t>
            </a:r>
            <a:r>
              <a:rPr lang="en-IN" sz="2400" dirty="0" smtClean="0"/>
              <a:t> -S </a:t>
            </a:r>
          </a:p>
          <a:p>
            <a:endParaRPr lang="en-IN" sz="2400" dirty="0" smtClean="0"/>
          </a:p>
          <a:p>
            <a:r>
              <a:rPr lang="en-IN" sz="2400" dirty="0" smtClean="0"/>
              <a:t>Which will return the same value symbolically, for example:</a:t>
            </a:r>
          </a:p>
          <a:p>
            <a:r>
              <a:rPr lang="en-IN" sz="2400" dirty="0" smtClean="0"/>
              <a:t>u=</a:t>
            </a:r>
            <a:r>
              <a:rPr lang="en-IN" sz="2400" dirty="0" err="1" smtClean="0"/>
              <a:t>rwx,g</a:t>
            </a:r>
            <a:r>
              <a:rPr lang="en-IN" sz="2400" dirty="0" smtClean="0"/>
              <a:t>=</a:t>
            </a:r>
            <a:r>
              <a:rPr lang="en-IN" sz="2400" dirty="0" err="1" smtClean="0"/>
              <a:t>rwx,o</a:t>
            </a:r>
            <a:r>
              <a:rPr lang="en-IN" sz="2400" dirty="0" smtClean="0"/>
              <a:t>=</a:t>
            </a:r>
            <a:r>
              <a:rPr lang="en-IN" sz="2400" dirty="0" err="1" smtClean="0"/>
              <a:t>rx</a:t>
            </a:r>
            <a:endParaRPr lang="en-IN" sz="2400" dirty="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27384"/>
            <a:ext cx="7488832" cy="812303"/>
          </a:xfrm>
        </p:spPr>
        <p:txBody>
          <a:bodyPr/>
          <a:lstStyle/>
          <a:p>
            <a:r>
              <a:rPr lang="en-IN" dirty="0" smtClean="0"/>
              <a:t>File &amp; Directory Commands</a:t>
            </a:r>
            <a:endParaRPr lang="en-IN" dirty="0"/>
          </a:p>
        </p:txBody>
      </p:sp>
      <p:sp>
        <p:nvSpPr>
          <p:cNvPr id="5" name="TextBox 4"/>
          <p:cNvSpPr txBox="1"/>
          <p:nvPr/>
        </p:nvSpPr>
        <p:spPr>
          <a:xfrm>
            <a:off x="1331640" y="1055633"/>
            <a:ext cx="7272808" cy="4893647"/>
          </a:xfrm>
          <a:prstGeom prst="rect">
            <a:avLst/>
          </a:prstGeom>
          <a:noFill/>
        </p:spPr>
        <p:txBody>
          <a:bodyPr wrap="square" rtlCol="0">
            <a:spAutoFit/>
          </a:bodyPr>
          <a:lstStyle/>
          <a:p>
            <a:r>
              <a:rPr lang="en-IN" sz="2400" b="1" dirty="0" err="1" smtClean="0"/>
              <a:t>chmod</a:t>
            </a:r>
            <a:r>
              <a:rPr lang="en-IN" sz="2400" dirty="0" smtClean="0"/>
              <a:t> </a:t>
            </a:r>
          </a:p>
          <a:p>
            <a:r>
              <a:rPr lang="en-IN" sz="2400" dirty="0" err="1" smtClean="0"/>
              <a:t>chmod</a:t>
            </a:r>
            <a:r>
              <a:rPr lang="en-IN" sz="2400" dirty="0" smtClean="0"/>
              <a:t> changes the permissions of each given file according to mode, where mode describes the permissions to modify. Mode can be specified with octal numbers or with letters.</a:t>
            </a:r>
          </a:p>
          <a:p>
            <a:endParaRPr lang="en-IN" sz="2400" dirty="0" smtClean="0"/>
          </a:p>
          <a:p>
            <a:r>
              <a:rPr lang="en-IN" sz="2400" dirty="0" err="1" smtClean="0"/>
              <a:t>chmod</a:t>
            </a:r>
            <a:r>
              <a:rPr lang="en-IN" sz="2400" dirty="0" smtClean="0"/>
              <a:t> [Options]... Mode</a:t>
            </a:r>
          </a:p>
          <a:p>
            <a:endParaRPr lang="en-IN" sz="2400" dirty="0" smtClean="0"/>
          </a:p>
          <a:p>
            <a:r>
              <a:rPr lang="en-IN" sz="2400" b="1" dirty="0" smtClean="0"/>
              <a:t>Numeric mode</a:t>
            </a:r>
          </a:p>
          <a:p>
            <a:r>
              <a:rPr lang="en-IN" sz="2400" dirty="0" smtClean="0"/>
              <a:t>A numeric mode is from one to four octal digits (0-7), derived by adding up the bits with values 4, 2, and 1. Permissions for the user who owns the file: read (4), write (2), and execute (1).</a:t>
            </a:r>
            <a:endParaRPr lang="en-IN" sz="2400" dirty="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27384"/>
            <a:ext cx="7488832" cy="812303"/>
          </a:xfrm>
        </p:spPr>
        <p:txBody>
          <a:bodyPr/>
          <a:lstStyle/>
          <a:p>
            <a:r>
              <a:rPr lang="en-IN" dirty="0" smtClean="0"/>
              <a:t>File &amp; Directory Commands</a:t>
            </a:r>
            <a:endParaRPr lang="en-IN" dirty="0"/>
          </a:p>
        </p:txBody>
      </p:sp>
      <p:sp>
        <p:nvSpPr>
          <p:cNvPr id="5" name="TextBox 4"/>
          <p:cNvSpPr txBox="1"/>
          <p:nvPr/>
        </p:nvSpPr>
        <p:spPr>
          <a:xfrm>
            <a:off x="1331640" y="764704"/>
            <a:ext cx="7272808" cy="5632311"/>
          </a:xfrm>
          <a:prstGeom prst="rect">
            <a:avLst/>
          </a:prstGeom>
          <a:noFill/>
        </p:spPr>
        <p:txBody>
          <a:bodyPr wrap="square" rtlCol="0">
            <a:spAutoFit/>
          </a:bodyPr>
          <a:lstStyle/>
          <a:p>
            <a:r>
              <a:rPr lang="en-IN" sz="2400" b="1" dirty="0" smtClean="0"/>
              <a:t>EXAMPLES</a:t>
            </a:r>
          </a:p>
          <a:p>
            <a:r>
              <a:rPr lang="en-IN" sz="2400" dirty="0" smtClean="0"/>
              <a:t>Read by owner only </a:t>
            </a:r>
          </a:p>
          <a:p>
            <a:r>
              <a:rPr lang="en-IN" sz="2400" dirty="0" smtClean="0"/>
              <a:t>$ </a:t>
            </a:r>
            <a:r>
              <a:rPr lang="en-IN" sz="2400" dirty="0" err="1" smtClean="0"/>
              <a:t>chmod</a:t>
            </a:r>
            <a:r>
              <a:rPr lang="en-IN" sz="2400" dirty="0" smtClean="0"/>
              <a:t> 400 sample.txt </a:t>
            </a:r>
          </a:p>
          <a:p>
            <a:endParaRPr lang="en-IN" sz="2400" dirty="0" smtClean="0"/>
          </a:p>
          <a:p>
            <a:r>
              <a:rPr lang="en-IN" sz="2400" dirty="0" smtClean="0"/>
              <a:t>Read by group only </a:t>
            </a:r>
          </a:p>
          <a:p>
            <a:r>
              <a:rPr lang="en-IN" sz="2400" dirty="0" smtClean="0"/>
              <a:t>$ </a:t>
            </a:r>
            <a:r>
              <a:rPr lang="en-IN" sz="2400" dirty="0" err="1" smtClean="0"/>
              <a:t>chmod</a:t>
            </a:r>
            <a:r>
              <a:rPr lang="en-IN" sz="2400" dirty="0" smtClean="0"/>
              <a:t> 040 sample.txt </a:t>
            </a:r>
          </a:p>
          <a:p>
            <a:endParaRPr lang="en-IN" sz="2400" dirty="0" smtClean="0"/>
          </a:p>
          <a:p>
            <a:r>
              <a:rPr lang="en-IN" sz="2400" dirty="0" smtClean="0"/>
              <a:t>Read by anyone</a:t>
            </a:r>
          </a:p>
          <a:p>
            <a:r>
              <a:rPr lang="en-IN" sz="2400" dirty="0" smtClean="0"/>
              <a:t>$ </a:t>
            </a:r>
            <a:r>
              <a:rPr lang="en-IN" sz="2400" dirty="0" err="1" smtClean="0"/>
              <a:t>chmod</a:t>
            </a:r>
            <a:r>
              <a:rPr lang="en-IN" sz="2400" dirty="0" smtClean="0"/>
              <a:t> 004 sample.txt </a:t>
            </a:r>
          </a:p>
          <a:p>
            <a:endParaRPr lang="en-IN" sz="2400" dirty="0" smtClean="0"/>
          </a:p>
          <a:p>
            <a:r>
              <a:rPr lang="en-IN" sz="2400" dirty="0" smtClean="0"/>
              <a:t>Write by owner only </a:t>
            </a:r>
          </a:p>
          <a:p>
            <a:r>
              <a:rPr lang="en-IN" sz="2400" dirty="0" smtClean="0"/>
              <a:t>$ </a:t>
            </a:r>
            <a:r>
              <a:rPr lang="en-IN" sz="2400" dirty="0" err="1" smtClean="0"/>
              <a:t>chmod</a:t>
            </a:r>
            <a:r>
              <a:rPr lang="en-IN" sz="2400" dirty="0" smtClean="0"/>
              <a:t> 200 sample.txt </a:t>
            </a:r>
          </a:p>
          <a:p>
            <a:endParaRPr lang="en-IN" sz="2400" dirty="0" smtClean="0"/>
          </a:p>
          <a:p>
            <a:r>
              <a:rPr lang="en-IN" sz="2400" dirty="0" smtClean="0"/>
              <a:t>Write by group only </a:t>
            </a:r>
          </a:p>
          <a:p>
            <a:r>
              <a:rPr lang="en-IN" sz="2400" dirty="0" smtClean="0"/>
              <a:t>$ </a:t>
            </a:r>
            <a:r>
              <a:rPr lang="en-IN" sz="2400" dirty="0" err="1" smtClean="0"/>
              <a:t>chmod</a:t>
            </a:r>
            <a:r>
              <a:rPr lang="en-IN" sz="2400" dirty="0" smtClean="0"/>
              <a:t> 020 sample.txt </a:t>
            </a:r>
            <a:endParaRPr lang="en-IN" sz="2400" dirty="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27384"/>
            <a:ext cx="7488832" cy="812303"/>
          </a:xfrm>
        </p:spPr>
        <p:txBody>
          <a:bodyPr/>
          <a:lstStyle/>
          <a:p>
            <a:r>
              <a:rPr lang="en-IN" dirty="0" smtClean="0"/>
              <a:t>File &amp; Directory Commands</a:t>
            </a:r>
            <a:endParaRPr lang="en-IN" dirty="0"/>
          </a:p>
        </p:txBody>
      </p:sp>
      <p:sp>
        <p:nvSpPr>
          <p:cNvPr id="5" name="TextBox 4"/>
          <p:cNvSpPr txBox="1"/>
          <p:nvPr/>
        </p:nvSpPr>
        <p:spPr>
          <a:xfrm>
            <a:off x="1331640" y="764704"/>
            <a:ext cx="7272808" cy="5632311"/>
          </a:xfrm>
          <a:prstGeom prst="rect">
            <a:avLst/>
          </a:prstGeom>
          <a:noFill/>
        </p:spPr>
        <p:txBody>
          <a:bodyPr wrap="square" rtlCol="0">
            <a:spAutoFit/>
          </a:bodyPr>
          <a:lstStyle/>
          <a:p>
            <a:r>
              <a:rPr lang="en-IN" sz="2400" dirty="0" smtClean="0"/>
              <a:t>Write by anyone</a:t>
            </a:r>
          </a:p>
          <a:p>
            <a:r>
              <a:rPr lang="en-IN" sz="2400" dirty="0" smtClean="0"/>
              <a:t>$ </a:t>
            </a:r>
            <a:r>
              <a:rPr lang="en-IN" sz="2400" dirty="0" err="1" smtClean="0"/>
              <a:t>chmod</a:t>
            </a:r>
            <a:r>
              <a:rPr lang="en-IN" sz="2400" dirty="0" smtClean="0"/>
              <a:t> 002 sample.txt </a:t>
            </a:r>
          </a:p>
          <a:p>
            <a:endParaRPr lang="en-IN" sz="2400" dirty="0" smtClean="0"/>
          </a:p>
          <a:p>
            <a:r>
              <a:rPr lang="en-IN" sz="2400" dirty="0" smtClean="0"/>
              <a:t>Execute by owner only </a:t>
            </a:r>
          </a:p>
          <a:p>
            <a:r>
              <a:rPr lang="en-IN" sz="2400" dirty="0" smtClean="0"/>
              <a:t>$ </a:t>
            </a:r>
            <a:r>
              <a:rPr lang="en-IN" sz="2400" dirty="0" err="1" smtClean="0"/>
              <a:t>chmod</a:t>
            </a:r>
            <a:r>
              <a:rPr lang="en-IN" sz="2400" dirty="0" smtClean="0"/>
              <a:t> 100 sample.txt </a:t>
            </a:r>
          </a:p>
          <a:p>
            <a:endParaRPr lang="en-IN" sz="2400" dirty="0" smtClean="0"/>
          </a:p>
          <a:p>
            <a:r>
              <a:rPr lang="en-IN" sz="2400" dirty="0" smtClean="0"/>
              <a:t>Execute by group only </a:t>
            </a:r>
          </a:p>
          <a:p>
            <a:r>
              <a:rPr lang="en-IN" sz="2400" dirty="0" smtClean="0"/>
              <a:t>$ </a:t>
            </a:r>
            <a:r>
              <a:rPr lang="en-IN" sz="2400" dirty="0" err="1" smtClean="0"/>
              <a:t>chmod</a:t>
            </a:r>
            <a:r>
              <a:rPr lang="en-IN" sz="2400" dirty="0" smtClean="0"/>
              <a:t> 010 sample.txt </a:t>
            </a:r>
          </a:p>
          <a:p>
            <a:r>
              <a:rPr lang="en-IN" sz="2400" dirty="0" smtClean="0"/>
              <a:t>Execute by anyone</a:t>
            </a:r>
          </a:p>
          <a:p>
            <a:r>
              <a:rPr lang="en-IN" sz="2400" dirty="0" smtClean="0"/>
              <a:t>$ </a:t>
            </a:r>
            <a:r>
              <a:rPr lang="en-IN" sz="2400" dirty="0" err="1" smtClean="0"/>
              <a:t>chmod</a:t>
            </a:r>
            <a:r>
              <a:rPr lang="en-IN" sz="2400" dirty="0" smtClean="0"/>
              <a:t> 001 sample.txt </a:t>
            </a:r>
          </a:p>
          <a:p>
            <a:endParaRPr lang="en-IN" sz="2400" dirty="0" smtClean="0"/>
          </a:p>
          <a:p>
            <a:r>
              <a:rPr lang="en-IN" sz="2400" dirty="0" smtClean="0"/>
              <a:t>Allow read permission to owner and group and anyone.</a:t>
            </a:r>
          </a:p>
          <a:p>
            <a:r>
              <a:rPr lang="en-IN" sz="2400" dirty="0" smtClean="0"/>
              <a:t>$ </a:t>
            </a:r>
            <a:r>
              <a:rPr lang="en-IN" sz="2400" dirty="0" err="1" smtClean="0"/>
              <a:t>chmod</a:t>
            </a:r>
            <a:r>
              <a:rPr lang="en-IN" sz="2400" dirty="0" smtClean="0"/>
              <a:t> 444 sample.txt </a:t>
            </a:r>
          </a:p>
          <a:p>
            <a:r>
              <a:rPr lang="en-IN" sz="2400" dirty="0" smtClean="0"/>
              <a:t>Allow everyone to read, write, and execute file.</a:t>
            </a:r>
          </a:p>
          <a:p>
            <a:r>
              <a:rPr lang="en-IN" sz="2400" dirty="0" smtClean="0"/>
              <a:t>$ </a:t>
            </a:r>
            <a:r>
              <a:rPr lang="en-IN" sz="2400" dirty="0" err="1" smtClean="0"/>
              <a:t>chmod</a:t>
            </a:r>
            <a:r>
              <a:rPr lang="en-IN" sz="2400" dirty="0" smtClean="0"/>
              <a:t> 777 sample.txt </a:t>
            </a:r>
            <a:endParaRPr lang="en-IN" sz="2400" dirty="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59632" y="332656"/>
            <a:ext cx="7498080" cy="4800600"/>
          </a:xfrm>
        </p:spPr>
        <p:txBody>
          <a:bodyPr>
            <a:normAutofit fontScale="85000" lnSpcReduction="10000"/>
          </a:bodyPr>
          <a:lstStyle/>
          <a:p>
            <a:r>
              <a:rPr lang="en-US" dirty="0"/>
              <a:t>Reference for u = owner , g = group , o = other , a = All (Owner , Group , Other ). • Add Read , Write , Execute permission to owner. </a:t>
            </a:r>
            <a:endParaRPr lang="en-US" dirty="0" smtClean="0"/>
          </a:p>
          <a:p>
            <a:endParaRPr lang="en-US" dirty="0" smtClean="0"/>
          </a:p>
          <a:p>
            <a:pPr marL="82296" indent="0">
              <a:buNone/>
            </a:pPr>
            <a:r>
              <a:rPr lang="en-US" dirty="0" smtClean="0"/>
              <a:t>$</a:t>
            </a:r>
            <a:r>
              <a:rPr lang="en-US" dirty="0" err="1" smtClean="0"/>
              <a:t>chmod</a:t>
            </a:r>
            <a:r>
              <a:rPr lang="en-US" dirty="0" smtClean="0"/>
              <a:t> </a:t>
            </a:r>
            <a:r>
              <a:rPr lang="en-US" dirty="0" err="1"/>
              <a:t>u+rwx</a:t>
            </a:r>
            <a:r>
              <a:rPr lang="en-US" dirty="0"/>
              <a:t> text.txt </a:t>
            </a:r>
            <a:endParaRPr lang="en-US" dirty="0" smtClean="0"/>
          </a:p>
          <a:p>
            <a:r>
              <a:rPr lang="en-US" dirty="0" smtClean="0"/>
              <a:t> </a:t>
            </a:r>
            <a:r>
              <a:rPr lang="en-US" dirty="0"/>
              <a:t>Remove write permission for the group and other. </a:t>
            </a:r>
            <a:endParaRPr lang="en-US" dirty="0" smtClean="0"/>
          </a:p>
          <a:p>
            <a:pPr marL="82296" indent="0">
              <a:buNone/>
            </a:pPr>
            <a:r>
              <a:rPr lang="en-US" dirty="0" smtClean="0"/>
              <a:t>$</a:t>
            </a:r>
            <a:r>
              <a:rPr lang="en-US" dirty="0" err="1" smtClean="0"/>
              <a:t>chmod</a:t>
            </a:r>
            <a:r>
              <a:rPr lang="en-US" dirty="0" smtClean="0"/>
              <a:t> </a:t>
            </a:r>
            <a:r>
              <a:rPr lang="en-US" dirty="0"/>
              <a:t>go-w </a:t>
            </a:r>
            <a:r>
              <a:rPr lang="en-US" dirty="0" smtClean="0"/>
              <a:t>text.txt</a:t>
            </a:r>
          </a:p>
          <a:p>
            <a:r>
              <a:rPr lang="en-US" dirty="0" smtClean="0"/>
              <a:t>  </a:t>
            </a:r>
            <a:r>
              <a:rPr lang="en-US" dirty="0"/>
              <a:t>Read and Write for owner , for other and group read only. </a:t>
            </a:r>
            <a:endParaRPr lang="en-US" dirty="0" smtClean="0"/>
          </a:p>
          <a:p>
            <a:pPr marL="82296" indent="0">
              <a:buNone/>
            </a:pPr>
            <a:r>
              <a:rPr lang="en-US" dirty="0" smtClean="0"/>
              <a:t>$</a:t>
            </a:r>
            <a:r>
              <a:rPr lang="en-US" dirty="0" err="1" smtClean="0"/>
              <a:t>chmod</a:t>
            </a:r>
            <a:r>
              <a:rPr lang="en-US" dirty="0" smtClean="0"/>
              <a:t> </a:t>
            </a:r>
            <a:r>
              <a:rPr lang="en-US" dirty="0" err="1"/>
              <a:t>u+rw,go+r</a:t>
            </a:r>
            <a:r>
              <a:rPr lang="en-US" dirty="0"/>
              <a:t> text.txt</a:t>
            </a:r>
            <a:endParaRPr lang="en-IN" dirty="0"/>
          </a:p>
        </p:txBody>
      </p:sp>
      <p:sp>
        <p:nvSpPr>
          <p:cNvPr id="4" name="Footer Placeholder 3"/>
          <p:cNvSpPr>
            <a:spLocks noGrp="1"/>
          </p:cNvSpPr>
          <p:nvPr>
            <p:ph type="ftr" sz="quarter" idx="11"/>
          </p:nvPr>
        </p:nvSpPr>
        <p:spPr/>
        <p:txBody>
          <a:bodyPr/>
          <a:lstStyle/>
          <a:p>
            <a:r>
              <a:rPr lang="en-US" smtClean="0"/>
              <a:t>Created By: Prof. Mital Goswami</a:t>
            </a:r>
            <a:endParaRPr lang="en-IN"/>
          </a:p>
        </p:txBody>
      </p:sp>
    </p:spTree>
    <p:extLst>
      <p:ext uri="{BB962C8B-B14F-4D97-AF65-F5344CB8AC3E}">
        <p14:creationId xmlns:p14="http://schemas.microsoft.com/office/powerpoint/2010/main" val="3967289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27384"/>
            <a:ext cx="7488832" cy="812303"/>
          </a:xfrm>
        </p:spPr>
        <p:txBody>
          <a:bodyPr/>
          <a:lstStyle/>
          <a:p>
            <a:r>
              <a:rPr lang="en-IN" dirty="0" smtClean="0"/>
              <a:t>File &amp; Directory Commands</a:t>
            </a:r>
            <a:endParaRPr lang="en-IN" dirty="0"/>
          </a:p>
        </p:txBody>
      </p:sp>
      <p:sp>
        <p:nvSpPr>
          <p:cNvPr id="5" name="TextBox 4"/>
          <p:cNvSpPr txBox="1"/>
          <p:nvPr/>
        </p:nvSpPr>
        <p:spPr>
          <a:xfrm>
            <a:off x="1331640" y="764704"/>
            <a:ext cx="7272808" cy="6001643"/>
          </a:xfrm>
          <a:prstGeom prst="rect">
            <a:avLst/>
          </a:prstGeom>
          <a:noFill/>
        </p:spPr>
        <p:txBody>
          <a:bodyPr wrap="square" rtlCol="0">
            <a:spAutoFit/>
          </a:bodyPr>
          <a:lstStyle/>
          <a:p>
            <a:r>
              <a:rPr lang="en-IN" sz="2400" b="1" dirty="0" err="1" smtClean="0"/>
              <a:t>chown</a:t>
            </a:r>
            <a:r>
              <a:rPr lang="en-IN" sz="2400" dirty="0" smtClean="0"/>
              <a:t> </a:t>
            </a:r>
          </a:p>
          <a:p>
            <a:r>
              <a:rPr lang="en-IN" sz="2400" dirty="0" smtClean="0"/>
              <a:t>To change owner, change the user and/or group ownership of each given File to a new Owner.</a:t>
            </a:r>
          </a:p>
          <a:p>
            <a:endParaRPr lang="en-IN" sz="2400" dirty="0" smtClean="0"/>
          </a:p>
          <a:p>
            <a:r>
              <a:rPr lang="en-IN" sz="2400" dirty="0" err="1" smtClean="0"/>
              <a:t>chown</a:t>
            </a:r>
            <a:r>
              <a:rPr lang="en-IN" sz="2400" dirty="0" smtClean="0"/>
              <a:t> [Options]... </a:t>
            </a:r>
            <a:r>
              <a:rPr lang="en-IN" sz="2400" dirty="0" err="1" smtClean="0"/>
              <a:t>NewOwner</a:t>
            </a:r>
            <a:r>
              <a:rPr lang="en-IN" sz="2400" dirty="0" smtClean="0"/>
              <a:t> File...</a:t>
            </a:r>
          </a:p>
          <a:p>
            <a:endParaRPr lang="en-IN" sz="2400" dirty="0" smtClean="0"/>
          </a:p>
          <a:p>
            <a:r>
              <a:rPr lang="en-IN" sz="2400" b="1" dirty="0" smtClean="0"/>
              <a:t>EXAMPLES</a:t>
            </a:r>
          </a:p>
          <a:p>
            <a:r>
              <a:rPr lang="en-IN" sz="2400" dirty="0" smtClean="0"/>
              <a:t>Change the owner of file.</a:t>
            </a:r>
          </a:p>
          <a:p>
            <a:r>
              <a:rPr lang="en-IN" sz="2400" dirty="0" smtClean="0"/>
              <a:t>$ </a:t>
            </a:r>
            <a:r>
              <a:rPr lang="en-IN" sz="2400" dirty="0" err="1" smtClean="0"/>
              <a:t>chown</a:t>
            </a:r>
            <a:r>
              <a:rPr lang="en-IN" sz="2400" dirty="0" smtClean="0"/>
              <a:t> user sample.txt </a:t>
            </a:r>
          </a:p>
          <a:p>
            <a:endParaRPr lang="en-IN" sz="2400" dirty="0" smtClean="0"/>
          </a:p>
          <a:p>
            <a:r>
              <a:rPr lang="en-IN" sz="2400" dirty="0" smtClean="0"/>
              <a:t>Change the group of file.</a:t>
            </a:r>
          </a:p>
          <a:p>
            <a:r>
              <a:rPr lang="en-IN" sz="2400" dirty="0" smtClean="0"/>
              <a:t>$ </a:t>
            </a:r>
            <a:r>
              <a:rPr lang="en-IN" sz="2400" dirty="0" err="1" smtClean="0"/>
              <a:t>chown</a:t>
            </a:r>
            <a:r>
              <a:rPr lang="en-IN" sz="2400" dirty="0" smtClean="0"/>
              <a:t> :</a:t>
            </a:r>
            <a:r>
              <a:rPr lang="en-IN" sz="2400" dirty="0" err="1" smtClean="0"/>
              <a:t>mygroup</a:t>
            </a:r>
            <a:r>
              <a:rPr lang="en-IN" sz="2400" dirty="0" smtClean="0"/>
              <a:t> file.txt </a:t>
            </a:r>
          </a:p>
          <a:p>
            <a:endParaRPr lang="en-IN" sz="2400" dirty="0" smtClean="0"/>
          </a:p>
          <a:p>
            <a:r>
              <a:rPr lang="en-IN" sz="2400" dirty="0" smtClean="0"/>
              <a:t>Change both the owner and group of file in single command.</a:t>
            </a:r>
          </a:p>
          <a:p>
            <a:r>
              <a:rPr lang="en-IN" sz="2400" dirty="0" smtClean="0"/>
              <a:t>$ </a:t>
            </a:r>
            <a:r>
              <a:rPr lang="en-IN" sz="2400" dirty="0" err="1" smtClean="0"/>
              <a:t>chown</a:t>
            </a:r>
            <a:r>
              <a:rPr lang="en-IN" sz="2400" dirty="0" smtClean="0"/>
              <a:t> </a:t>
            </a:r>
            <a:r>
              <a:rPr lang="en-IN" sz="2400" dirty="0" err="1" smtClean="0"/>
              <a:t>user:mygroup</a:t>
            </a:r>
            <a:r>
              <a:rPr lang="en-IN" sz="2400" dirty="0" smtClean="0"/>
              <a:t> file.txt</a:t>
            </a:r>
            <a:endParaRPr lang="en-IN" sz="2400" dirty="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27384"/>
            <a:ext cx="7488832" cy="812303"/>
          </a:xfrm>
        </p:spPr>
        <p:txBody>
          <a:bodyPr/>
          <a:lstStyle/>
          <a:p>
            <a:r>
              <a:rPr lang="en-IN" dirty="0" smtClean="0"/>
              <a:t>File &amp; Directory Commands</a:t>
            </a:r>
            <a:endParaRPr lang="en-IN" dirty="0"/>
          </a:p>
        </p:txBody>
      </p:sp>
      <p:sp>
        <p:nvSpPr>
          <p:cNvPr id="5" name="TextBox 4"/>
          <p:cNvSpPr txBox="1"/>
          <p:nvPr/>
        </p:nvSpPr>
        <p:spPr>
          <a:xfrm>
            <a:off x="1331640" y="764704"/>
            <a:ext cx="7272808" cy="4524315"/>
          </a:xfrm>
          <a:prstGeom prst="rect">
            <a:avLst/>
          </a:prstGeom>
          <a:noFill/>
        </p:spPr>
        <p:txBody>
          <a:bodyPr wrap="square" rtlCol="0">
            <a:spAutoFit/>
          </a:bodyPr>
          <a:lstStyle/>
          <a:p>
            <a:r>
              <a:rPr lang="en-IN" sz="2400" b="1" dirty="0" err="1" smtClean="0"/>
              <a:t>chgrp</a:t>
            </a:r>
            <a:r>
              <a:rPr lang="en-IN" sz="2400" dirty="0" smtClean="0"/>
              <a:t> </a:t>
            </a:r>
          </a:p>
          <a:p>
            <a:r>
              <a:rPr lang="en-IN" sz="2400" dirty="0" smtClean="0"/>
              <a:t>To change group ownership. '</a:t>
            </a:r>
            <a:r>
              <a:rPr lang="en-IN" sz="2400" dirty="0" err="1" smtClean="0"/>
              <a:t>chgrp</a:t>
            </a:r>
            <a:r>
              <a:rPr lang="en-IN" sz="2400" dirty="0" smtClean="0"/>
              <a:t>' command changes the group ownership of each given File to Group (which can be either a group name or a numeric group id).</a:t>
            </a:r>
          </a:p>
          <a:p>
            <a:endParaRPr lang="en-IN" sz="2400" dirty="0" smtClean="0"/>
          </a:p>
          <a:p>
            <a:r>
              <a:rPr lang="en-IN" sz="2400" dirty="0" err="1" smtClean="0"/>
              <a:t>chgrp</a:t>
            </a:r>
            <a:r>
              <a:rPr lang="en-IN" sz="2400" dirty="0" smtClean="0"/>
              <a:t> [Options]... {Group} File...</a:t>
            </a:r>
          </a:p>
          <a:p>
            <a:endParaRPr lang="en-IN" sz="2400" dirty="0" smtClean="0"/>
          </a:p>
          <a:p>
            <a:r>
              <a:rPr lang="en-IN" sz="2400" b="1" dirty="0" smtClean="0"/>
              <a:t>EXAMPLES</a:t>
            </a:r>
          </a:p>
          <a:p>
            <a:r>
              <a:rPr lang="en-IN" sz="2400" dirty="0" smtClean="0"/>
              <a:t>To Make </a:t>
            </a:r>
            <a:r>
              <a:rPr lang="en-IN" sz="2400" dirty="0" err="1" smtClean="0"/>
              <a:t>oracleadmin</a:t>
            </a:r>
            <a:r>
              <a:rPr lang="en-IN" sz="2400" dirty="0" smtClean="0"/>
              <a:t> the owner of the database directory</a:t>
            </a:r>
          </a:p>
          <a:p>
            <a:r>
              <a:rPr lang="en-IN" sz="2400" dirty="0" smtClean="0"/>
              <a:t>$ </a:t>
            </a:r>
            <a:r>
              <a:rPr lang="en-IN" sz="2400" dirty="0" err="1" smtClean="0"/>
              <a:t>chgrp</a:t>
            </a:r>
            <a:r>
              <a:rPr lang="en-IN" sz="2400" dirty="0" smtClean="0"/>
              <a:t> </a:t>
            </a:r>
            <a:r>
              <a:rPr lang="en-IN" sz="2400" dirty="0" err="1" smtClean="0"/>
              <a:t>oracleadmin</a:t>
            </a:r>
            <a:r>
              <a:rPr lang="en-IN" sz="2400" dirty="0" smtClean="0"/>
              <a:t> /</a:t>
            </a:r>
            <a:r>
              <a:rPr lang="en-IN" sz="2400" dirty="0" err="1" smtClean="0"/>
              <a:t>usr</a:t>
            </a:r>
            <a:r>
              <a:rPr lang="en-IN" sz="2400" dirty="0" smtClean="0"/>
              <a:t>/database</a:t>
            </a:r>
          </a:p>
          <a:p>
            <a:r>
              <a:rPr lang="en-IN" sz="2400" dirty="0"/>
              <a:t>$</a:t>
            </a:r>
            <a:r>
              <a:rPr lang="en-IN" sz="2400" dirty="0" err="1"/>
              <a:t>sudo</a:t>
            </a:r>
            <a:r>
              <a:rPr lang="en-IN" sz="2400" dirty="0"/>
              <a:t> </a:t>
            </a:r>
            <a:r>
              <a:rPr lang="en-IN" sz="2400" dirty="0" err="1"/>
              <a:t>chgrp</a:t>
            </a:r>
            <a:r>
              <a:rPr lang="en-IN" sz="2400" dirty="0"/>
              <a:t> group2 file1.txt</a:t>
            </a:r>
            <a:r>
              <a:rPr lang="en-IN" sz="2400" dirty="0" smtClean="0"/>
              <a:t> </a:t>
            </a:r>
            <a:endParaRPr lang="en-IN" sz="2400" dirty="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27384"/>
            <a:ext cx="7488832" cy="812303"/>
          </a:xfrm>
        </p:spPr>
        <p:txBody>
          <a:bodyPr/>
          <a:lstStyle/>
          <a:p>
            <a:r>
              <a:rPr lang="en-IN" dirty="0" smtClean="0"/>
              <a:t>File &amp; Directory Commands</a:t>
            </a:r>
            <a:endParaRPr lang="en-IN" dirty="0"/>
          </a:p>
        </p:txBody>
      </p:sp>
      <p:sp>
        <p:nvSpPr>
          <p:cNvPr id="5" name="TextBox 4"/>
          <p:cNvSpPr txBox="1"/>
          <p:nvPr/>
        </p:nvSpPr>
        <p:spPr>
          <a:xfrm>
            <a:off x="1331640" y="764704"/>
            <a:ext cx="7272808" cy="6001643"/>
          </a:xfrm>
          <a:prstGeom prst="rect">
            <a:avLst/>
          </a:prstGeom>
          <a:noFill/>
        </p:spPr>
        <p:txBody>
          <a:bodyPr wrap="square" rtlCol="0">
            <a:spAutoFit/>
          </a:bodyPr>
          <a:lstStyle/>
          <a:p>
            <a:r>
              <a:rPr lang="en-IN" sz="2400" b="1" dirty="0" smtClean="0"/>
              <a:t>find</a:t>
            </a:r>
            <a:r>
              <a:rPr lang="en-IN" sz="2400" dirty="0" smtClean="0"/>
              <a:t> </a:t>
            </a:r>
          </a:p>
          <a:p>
            <a:r>
              <a:rPr lang="en-IN" sz="2400" dirty="0" smtClean="0"/>
              <a:t>The find command in UNIX is a command line utility for walking a file hierarchy. It can be used to find files and directories and perform subsequent operations on them. It supports searching by file, folder, name, creation date, modification date, owner and permissions.</a:t>
            </a:r>
          </a:p>
          <a:p>
            <a:r>
              <a:rPr lang="en-IN" sz="2400" dirty="0" smtClean="0"/>
              <a:t>To find a single file by name pass the -name option to find along with the name of the file you are looking for.</a:t>
            </a:r>
          </a:p>
          <a:p>
            <a:endParaRPr lang="en-IN" sz="2400" dirty="0" smtClean="0"/>
          </a:p>
          <a:p>
            <a:r>
              <a:rPr lang="en-IN" sz="2400" dirty="0" smtClean="0"/>
              <a:t>Suppose the following directory structure exists shown here as the output of the tree command.</a:t>
            </a:r>
          </a:p>
          <a:p>
            <a:r>
              <a:rPr lang="en-IN" sz="2400" dirty="0" smtClean="0"/>
              <a:t>user </a:t>
            </a:r>
          </a:p>
          <a:p>
            <a:r>
              <a:rPr lang="en-IN" sz="2400" dirty="0" smtClean="0"/>
              <a:t>├── </a:t>
            </a:r>
            <a:r>
              <a:rPr lang="en-IN" sz="2400" dirty="0" err="1" smtClean="0"/>
              <a:t>abc</a:t>
            </a:r>
            <a:r>
              <a:rPr lang="en-IN" sz="2400" dirty="0" smtClean="0"/>
              <a:t> </a:t>
            </a:r>
          </a:p>
          <a:p>
            <a:r>
              <a:rPr lang="en-IN" sz="2400" dirty="0" smtClean="0"/>
              <a:t>├── </a:t>
            </a:r>
            <a:r>
              <a:rPr lang="en-IN" sz="2400" dirty="0" err="1" smtClean="0"/>
              <a:t>mydir</a:t>
            </a:r>
            <a:endParaRPr lang="en-IN" sz="2400" dirty="0" smtClean="0"/>
          </a:p>
          <a:p>
            <a:r>
              <a:rPr lang="en-IN" sz="2400" dirty="0" smtClean="0"/>
              <a:t> |       └── user.txt </a:t>
            </a:r>
          </a:p>
          <a:p>
            <a:r>
              <a:rPr lang="en-IN" sz="2400" dirty="0" smtClean="0"/>
              <a:t>└── xyz</a:t>
            </a:r>
            <a:endParaRPr lang="en-IN" sz="2400" dirty="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27384"/>
            <a:ext cx="7488832" cy="812303"/>
          </a:xfrm>
        </p:spPr>
        <p:txBody>
          <a:bodyPr/>
          <a:lstStyle/>
          <a:p>
            <a:r>
              <a:rPr lang="en-IN" dirty="0" smtClean="0"/>
              <a:t>File &amp; Directory Commands</a:t>
            </a:r>
            <a:endParaRPr lang="en-IN" dirty="0"/>
          </a:p>
        </p:txBody>
      </p:sp>
      <p:sp>
        <p:nvSpPr>
          <p:cNvPr id="5" name="TextBox 4"/>
          <p:cNvSpPr txBox="1"/>
          <p:nvPr/>
        </p:nvSpPr>
        <p:spPr>
          <a:xfrm>
            <a:off x="1331640" y="764704"/>
            <a:ext cx="7272808" cy="5632311"/>
          </a:xfrm>
          <a:prstGeom prst="rect">
            <a:avLst/>
          </a:prstGeom>
          <a:noFill/>
        </p:spPr>
        <p:txBody>
          <a:bodyPr wrap="square" rtlCol="0">
            <a:spAutoFit/>
          </a:bodyPr>
          <a:lstStyle/>
          <a:p>
            <a:r>
              <a:rPr lang="en-IN" sz="2000" dirty="0" smtClean="0"/>
              <a:t>The file user.txt can be located with the find by using the -name option.</a:t>
            </a:r>
          </a:p>
          <a:p>
            <a:endParaRPr lang="en-IN" sz="2000" dirty="0" smtClean="0"/>
          </a:p>
          <a:p>
            <a:r>
              <a:rPr lang="en-IN" sz="2000" dirty="0" smtClean="0"/>
              <a:t>$find ./user -name user.txt </a:t>
            </a:r>
          </a:p>
          <a:p>
            <a:endParaRPr lang="en-IN" sz="2000" dirty="0" smtClean="0"/>
          </a:p>
          <a:p>
            <a:r>
              <a:rPr lang="en-IN" sz="2000" dirty="0" smtClean="0"/>
              <a:t>./user/</a:t>
            </a:r>
            <a:r>
              <a:rPr lang="en-IN" sz="2000" dirty="0" err="1" smtClean="0"/>
              <a:t>mydir</a:t>
            </a:r>
            <a:r>
              <a:rPr lang="en-IN" sz="2000" dirty="0" smtClean="0"/>
              <a:t>/user.txt </a:t>
            </a:r>
          </a:p>
          <a:p>
            <a:r>
              <a:rPr lang="en-US" sz="2000" dirty="0"/>
              <a:t>Find file with entered permission (read write /read write / read) </a:t>
            </a:r>
            <a:endParaRPr lang="en-US" sz="2000" dirty="0" smtClean="0"/>
          </a:p>
          <a:p>
            <a:endParaRPr lang="en-US" sz="2000" dirty="0" smtClean="0"/>
          </a:p>
          <a:p>
            <a:r>
              <a:rPr lang="en-US" sz="2000" dirty="0" smtClean="0"/>
              <a:t>$find </a:t>
            </a:r>
            <a:r>
              <a:rPr lang="en-US" sz="2000" dirty="0"/>
              <a:t>./ -perm 664 </a:t>
            </a:r>
            <a:endParaRPr lang="en-IN" sz="2000" dirty="0" smtClean="0"/>
          </a:p>
          <a:p>
            <a:r>
              <a:rPr lang="en-IN" sz="2000" b="1" dirty="0" smtClean="0"/>
              <a:t>How to find and delete a file</a:t>
            </a:r>
          </a:p>
          <a:p>
            <a:r>
              <a:rPr lang="en-IN" sz="2000" dirty="0" smtClean="0"/>
              <a:t>To find and delete a file pass the --delete option to find. This will delete the file with no undo so be careful.</a:t>
            </a:r>
          </a:p>
          <a:p>
            <a:r>
              <a:rPr lang="en-IN" sz="2000" dirty="0" smtClean="0"/>
              <a:t>$find ./user -name user.txt --delete </a:t>
            </a:r>
          </a:p>
          <a:p>
            <a:r>
              <a:rPr lang="en-IN" sz="2000" dirty="0" smtClean="0"/>
              <a:t>$find </a:t>
            </a:r>
            <a:r>
              <a:rPr lang="en-IN" sz="2000" dirty="0"/>
              <a:t>. -type d </a:t>
            </a:r>
            <a:endParaRPr lang="en-IN" sz="2000" dirty="0" smtClean="0"/>
          </a:p>
          <a:p>
            <a:r>
              <a:rPr lang="en-IN" sz="2000" b="1" dirty="0" smtClean="0"/>
              <a:t>How to find a directory</a:t>
            </a:r>
          </a:p>
          <a:p>
            <a:r>
              <a:rPr lang="en-IN" sz="2000" dirty="0" smtClean="0"/>
              <a:t>To find a directory specify the option -type d with find.</a:t>
            </a:r>
          </a:p>
          <a:p>
            <a:r>
              <a:rPr lang="en-IN" sz="2000" dirty="0" smtClean="0"/>
              <a:t>find ./user -type d -name </a:t>
            </a:r>
            <a:r>
              <a:rPr lang="en-IN" sz="2000" dirty="0" err="1" smtClean="0"/>
              <a:t>mydir</a:t>
            </a:r>
            <a:endParaRPr lang="en-IN" sz="2000" dirty="0" smtClean="0"/>
          </a:p>
          <a:p>
            <a:r>
              <a:rPr lang="en-IN" sz="2000" dirty="0" smtClean="0"/>
              <a:t>./user/</a:t>
            </a:r>
            <a:r>
              <a:rPr lang="en-IN" sz="2000" dirty="0" err="1" smtClean="0"/>
              <a:t>mydir</a:t>
            </a:r>
            <a:endParaRPr lang="en-IN" sz="2400" dirty="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IN" dirty="0"/>
          </a:p>
        </p:txBody>
      </p:sp>
      <p:sp>
        <p:nvSpPr>
          <p:cNvPr id="3" name="Content Placeholder 2"/>
          <p:cNvSpPr>
            <a:spLocks noGrp="1"/>
          </p:cNvSpPr>
          <p:nvPr>
            <p:ph idx="1"/>
          </p:nvPr>
        </p:nvSpPr>
        <p:spPr/>
        <p:txBody>
          <a:bodyPr>
            <a:normAutofit fontScale="47500" lnSpcReduction="20000"/>
          </a:bodyPr>
          <a:lstStyle/>
          <a:p>
            <a:r>
              <a:rPr lang="en-US" dirty="0" smtClean="0"/>
              <a:t>find </a:t>
            </a:r>
            <a:r>
              <a:rPr lang="en-US" dirty="0"/>
              <a:t>. -name a.txt</a:t>
            </a:r>
          </a:p>
          <a:p>
            <a:pPr marL="82296" indent="0">
              <a:buNone/>
            </a:pPr>
            <a:endParaRPr lang="en-US" dirty="0"/>
          </a:p>
          <a:p>
            <a:r>
              <a:rPr lang="en-US" dirty="0"/>
              <a:t>#Find Read-Only Files</a:t>
            </a:r>
          </a:p>
          <a:p>
            <a:r>
              <a:rPr lang="en-US" dirty="0"/>
              <a:t>find / -perm /u=r</a:t>
            </a:r>
          </a:p>
          <a:p>
            <a:endParaRPr lang="en-US" dirty="0"/>
          </a:p>
          <a:p>
            <a:r>
              <a:rPr lang="en-US" dirty="0"/>
              <a:t>find </a:t>
            </a:r>
            <a:r>
              <a:rPr lang="en-US" dirty="0" err="1"/>
              <a:t>sss</a:t>
            </a:r>
            <a:r>
              <a:rPr lang="en-US" dirty="0"/>
              <a:t> -name c.txt</a:t>
            </a:r>
          </a:p>
          <a:p>
            <a:endParaRPr lang="en-US" dirty="0"/>
          </a:p>
          <a:p>
            <a:r>
              <a:rPr lang="en-US" dirty="0"/>
              <a:t>find -type d -name </a:t>
            </a:r>
            <a:r>
              <a:rPr lang="en-US" dirty="0" err="1"/>
              <a:t>sss</a:t>
            </a:r>
            <a:endParaRPr lang="en-US" dirty="0"/>
          </a:p>
          <a:p>
            <a:endParaRPr lang="en-US" dirty="0"/>
          </a:p>
          <a:p>
            <a:r>
              <a:rPr lang="en-US" dirty="0"/>
              <a:t>find ~ -name "a.txt"</a:t>
            </a:r>
          </a:p>
          <a:p>
            <a:endParaRPr lang="en-US" dirty="0"/>
          </a:p>
          <a:p>
            <a:r>
              <a:rPr lang="en-US" dirty="0"/>
              <a:t> #Find all Empty Directories</a:t>
            </a:r>
          </a:p>
          <a:p>
            <a:r>
              <a:rPr lang="en-US" dirty="0"/>
              <a:t>find /</a:t>
            </a:r>
            <a:r>
              <a:rPr lang="en-US" dirty="0" err="1"/>
              <a:t>tmp</a:t>
            </a:r>
            <a:r>
              <a:rPr lang="en-US" dirty="0"/>
              <a:t> -type d -empty</a:t>
            </a:r>
          </a:p>
          <a:p>
            <a:endParaRPr lang="en-US" dirty="0"/>
          </a:p>
          <a:p>
            <a:r>
              <a:rPr lang="en-US" dirty="0"/>
              <a:t>#. File all Hidden Files</a:t>
            </a:r>
          </a:p>
          <a:p>
            <a:r>
              <a:rPr lang="en-US" dirty="0"/>
              <a:t>find /</a:t>
            </a:r>
            <a:r>
              <a:rPr lang="en-US" dirty="0" err="1"/>
              <a:t>tmp</a:t>
            </a:r>
            <a:r>
              <a:rPr lang="en-US" dirty="0"/>
              <a:t> -type f -name ".*"</a:t>
            </a:r>
          </a:p>
          <a:p>
            <a:endParaRPr lang="en-US" dirty="0"/>
          </a:p>
          <a:p>
            <a:r>
              <a:rPr lang="en-US" dirty="0"/>
              <a:t>find / -size 50M</a:t>
            </a:r>
          </a:p>
          <a:p>
            <a:endParaRPr lang="en-IN" dirty="0"/>
          </a:p>
        </p:txBody>
      </p:sp>
      <p:sp>
        <p:nvSpPr>
          <p:cNvPr id="4" name="Footer Placeholder 3"/>
          <p:cNvSpPr>
            <a:spLocks noGrp="1"/>
          </p:cNvSpPr>
          <p:nvPr>
            <p:ph type="ftr" sz="quarter" idx="11"/>
          </p:nvPr>
        </p:nvSpPr>
        <p:spPr/>
        <p:txBody>
          <a:bodyPr/>
          <a:lstStyle/>
          <a:p>
            <a:r>
              <a:rPr lang="en-US" smtClean="0"/>
              <a:t>Created By: Prof. Mital Goswami</a:t>
            </a:r>
            <a:endParaRPr lang="en-IN"/>
          </a:p>
        </p:txBody>
      </p:sp>
    </p:spTree>
    <p:extLst>
      <p:ext uri="{BB962C8B-B14F-4D97-AF65-F5344CB8AC3E}">
        <p14:creationId xmlns:p14="http://schemas.microsoft.com/office/powerpoint/2010/main" val="38506263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27384"/>
            <a:ext cx="7488832" cy="812303"/>
          </a:xfrm>
        </p:spPr>
        <p:txBody>
          <a:bodyPr/>
          <a:lstStyle/>
          <a:p>
            <a:r>
              <a:rPr lang="en-IN" dirty="0" smtClean="0"/>
              <a:t>File &amp; Directory Commands</a:t>
            </a:r>
            <a:endParaRPr lang="en-IN" dirty="0"/>
          </a:p>
        </p:txBody>
      </p:sp>
      <p:sp>
        <p:nvSpPr>
          <p:cNvPr id="5" name="TextBox 4"/>
          <p:cNvSpPr txBox="1"/>
          <p:nvPr/>
        </p:nvSpPr>
        <p:spPr>
          <a:xfrm>
            <a:off x="1331640" y="764704"/>
            <a:ext cx="7272808" cy="6001643"/>
          </a:xfrm>
          <a:prstGeom prst="rect">
            <a:avLst/>
          </a:prstGeom>
          <a:noFill/>
        </p:spPr>
        <p:txBody>
          <a:bodyPr wrap="square" rtlCol="0">
            <a:spAutoFit/>
          </a:bodyPr>
          <a:lstStyle/>
          <a:p>
            <a:r>
              <a:rPr lang="en-IN" sz="2400" b="1" dirty="0" smtClean="0"/>
              <a:t>pg</a:t>
            </a:r>
            <a:r>
              <a:rPr lang="en-IN" sz="2400" dirty="0" smtClean="0"/>
              <a:t> </a:t>
            </a:r>
          </a:p>
          <a:p>
            <a:r>
              <a:rPr lang="en-IN" sz="2400" dirty="0" smtClean="0"/>
              <a:t>Pg is a pager:  it allows you to view text files one page at a time. pg displays a text file on a CRT one </a:t>
            </a:r>
            <a:r>
              <a:rPr lang="en-IN" sz="2400" dirty="0" err="1" smtClean="0"/>
              <a:t>screenful</a:t>
            </a:r>
            <a:r>
              <a:rPr lang="en-IN" sz="2400" dirty="0" smtClean="0"/>
              <a:t> at once. After each page, a prompt is displayed. The user may then either press the newline key to view the next page or one of the keys described below.</a:t>
            </a:r>
          </a:p>
          <a:p>
            <a:endParaRPr lang="en-IN" sz="2400" dirty="0" smtClean="0"/>
          </a:p>
          <a:p>
            <a:r>
              <a:rPr lang="en-IN" sz="2400" dirty="0" smtClean="0"/>
              <a:t>pg [options] [</a:t>
            </a:r>
            <a:r>
              <a:rPr lang="en-IN" sz="2400" i="1" dirty="0" smtClean="0"/>
              <a:t>file</a:t>
            </a:r>
            <a:r>
              <a:rPr lang="en-IN" sz="2400" dirty="0" smtClean="0"/>
              <a:t>...]</a:t>
            </a:r>
          </a:p>
          <a:p>
            <a:endParaRPr lang="en-IN" sz="2400" dirty="0" smtClean="0"/>
          </a:p>
          <a:p>
            <a:r>
              <a:rPr lang="en-IN" sz="2400" b="1" dirty="0" smtClean="0"/>
              <a:t>Options</a:t>
            </a:r>
          </a:p>
          <a:p>
            <a:r>
              <a:rPr lang="en-IN" sz="2400" b="1" dirty="0" smtClean="0"/>
              <a:t>-number</a:t>
            </a:r>
            <a:r>
              <a:rPr lang="en-IN" sz="2400" dirty="0" smtClean="0"/>
              <a:t>  : The number of lines per page. Usually, this is the number of CRT lines minus one. </a:t>
            </a:r>
          </a:p>
          <a:p>
            <a:r>
              <a:rPr lang="en-IN" sz="2400" b="1" dirty="0" smtClean="0"/>
              <a:t>-c</a:t>
            </a:r>
            <a:r>
              <a:rPr lang="en-IN" sz="2400" dirty="0" smtClean="0"/>
              <a:t>  : Clear the screen before a page is displayed, if the </a:t>
            </a:r>
            <a:r>
              <a:rPr lang="en-IN" sz="2400" dirty="0" err="1" smtClean="0"/>
              <a:t>terminfo</a:t>
            </a:r>
            <a:r>
              <a:rPr lang="en-IN" sz="2400" dirty="0" smtClean="0"/>
              <a:t> entry for the terminal provides this capability. </a:t>
            </a:r>
          </a:p>
          <a:p>
            <a:r>
              <a:rPr lang="en-IN" sz="2400" b="1" dirty="0" smtClean="0"/>
              <a:t>-e</a:t>
            </a:r>
            <a:r>
              <a:rPr lang="en-IN" sz="2400" dirty="0" smtClean="0"/>
              <a:t>  : Do not pause and display "(EOF)" at the end of a file. </a:t>
            </a:r>
          </a:p>
          <a:p>
            <a:r>
              <a:rPr lang="en-IN" sz="2400" b="1" dirty="0" smtClean="0"/>
              <a:t>-f</a:t>
            </a:r>
            <a:r>
              <a:rPr lang="en-IN" sz="2400" dirty="0" smtClean="0"/>
              <a:t>  : Do not split long lines.</a:t>
            </a:r>
            <a:endParaRPr lang="en-IN" sz="2400" dirty="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27384"/>
            <a:ext cx="7488832" cy="812303"/>
          </a:xfrm>
        </p:spPr>
        <p:txBody>
          <a:bodyPr/>
          <a:lstStyle/>
          <a:p>
            <a:r>
              <a:rPr lang="en-IN" dirty="0" smtClean="0"/>
              <a:t>File &amp; Directory Commands</a:t>
            </a:r>
            <a:endParaRPr lang="en-IN" dirty="0"/>
          </a:p>
        </p:txBody>
      </p:sp>
      <p:sp>
        <p:nvSpPr>
          <p:cNvPr id="5" name="TextBox 4"/>
          <p:cNvSpPr txBox="1"/>
          <p:nvPr/>
        </p:nvSpPr>
        <p:spPr>
          <a:xfrm>
            <a:off x="1331640" y="764704"/>
            <a:ext cx="7272808" cy="2677656"/>
          </a:xfrm>
          <a:prstGeom prst="rect">
            <a:avLst/>
          </a:prstGeom>
          <a:noFill/>
        </p:spPr>
        <p:txBody>
          <a:bodyPr wrap="square" rtlCol="0">
            <a:spAutoFit/>
          </a:bodyPr>
          <a:lstStyle/>
          <a:p>
            <a:r>
              <a:rPr lang="en-IN" sz="2400" b="1" dirty="0" smtClean="0"/>
              <a:t>Example</a:t>
            </a:r>
          </a:p>
          <a:p>
            <a:endParaRPr lang="en-IN" sz="2400" b="1" dirty="0" smtClean="0"/>
          </a:p>
          <a:p>
            <a:r>
              <a:rPr lang="en-IN" sz="2400" dirty="0" smtClean="0"/>
              <a:t>$ pg myfile.txt</a:t>
            </a:r>
          </a:p>
          <a:p>
            <a:endParaRPr lang="en-IN" sz="2400" dirty="0" smtClean="0"/>
          </a:p>
          <a:p>
            <a:r>
              <a:rPr lang="en-IN" sz="2400" dirty="0" smtClean="0"/>
              <a:t>Displays the first </a:t>
            </a:r>
            <a:r>
              <a:rPr lang="en-IN" sz="2400" dirty="0" err="1" smtClean="0"/>
              <a:t>screenful</a:t>
            </a:r>
            <a:r>
              <a:rPr lang="en-IN" sz="2400" dirty="0" smtClean="0"/>
              <a:t> of the contents of text file myfile.txt, and a prompt ("</a:t>
            </a:r>
            <a:r>
              <a:rPr lang="en-IN" sz="2400" b="1" dirty="0" smtClean="0"/>
              <a:t>:</a:t>
            </a:r>
            <a:r>
              <a:rPr lang="en-IN" sz="2400" dirty="0" smtClean="0"/>
              <a:t>").  Pressing the Return key displays the next page.</a:t>
            </a:r>
            <a:endParaRPr lang="en-IN" sz="2400" dirty="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27384"/>
            <a:ext cx="7488832" cy="812303"/>
          </a:xfrm>
        </p:spPr>
        <p:txBody>
          <a:bodyPr/>
          <a:lstStyle/>
          <a:p>
            <a:r>
              <a:rPr lang="en-IN" dirty="0" smtClean="0"/>
              <a:t>File &amp; Directory Commands</a:t>
            </a:r>
            <a:endParaRPr lang="en-IN" dirty="0"/>
          </a:p>
        </p:txBody>
      </p:sp>
      <p:sp>
        <p:nvSpPr>
          <p:cNvPr id="5" name="TextBox 4"/>
          <p:cNvSpPr txBox="1"/>
          <p:nvPr/>
        </p:nvSpPr>
        <p:spPr>
          <a:xfrm>
            <a:off x="1331640" y="764704"/>
            <a:ext cx="7272808" cy="5632311"/>
          </a:xfrm>
          <a:prstGeom prst="rect">
            <a:avLst/>
          </a:prstGeom>
          <a:noFill/>
        </p:spPr>
        <p:txBody>
          <a:bodyPr wrap="square" rtlCol="0">
            <a:spAutoFit/>
          </a:bodyPr>
          <a:lstStyle/>
          <a:p>
            <a:r>
              <a:rPr lang="en-IN" sz="2400" b="1" dirty="0" smtClean="0"/>
              <a:t>more</a:t>
            </a:r>
          </a:p>
          <a:p>
            <a:r>
              <a:rPr lang="en-IN" sz="2400" b="1" dirty="0" smtClean="0"/>
              <a:t>more</a:t>
            </a:r>
            <a:r>
              <a:rPr lang="en-IN" sz="2400" dirty="0" smtClean="0"/>
              <a:t> is a filter for paging through text one screen at a time. The RETURN key displays the next line of the file. The spacebar displays the next screen of the file.</a:t>
            </a:r>
          </a:p>
          <a:p>
            <a:endParaRPr lang="en-IN" sz="2400" dirty="0" smtClean="0"/>
          </a:p>
          <a:p>
            <a:r>
              <a:rPr lang="en-IN" sz="2400" b="1" dirty="0" smtClean="0"/>
              <a:t>Syntax</a:t>
            </a:r>
          </a:p>
          <a:p>
            <a:r>
              <a:rPr lang="en-IN" sz="2400" dirty="0" smtClean="0"/>
              <a:t>more [options] [files]</a:t>
            </a:r>
          </a:p>
          <a:p>
            <a:endParaRPr lang="en-IN" sz="2400" dirty="0" smtClean="0"/>
          </a:p>
          <a:p>
            <a:r>
              <a:rPr lang="en-IN" sz="2400" b="1" dirty="0" smtClean="0"/>
              <a:t>Options</a:t>
            </a:r>
          </a:p>
          <a:p>
            <a:r>
              <a:rPr lang="en-IN" sz="2400" dirty="0" smtClean="0"/>
              <a:t>-c 	:	Page through the file by clearing the               </a:t>
            </a:r>
          </a:p>
          <a:p>
            <a:r>
              <a:rPr lang="en-IN" sz="2400" dirty="0" smtClean="0"/>
              <a:t>                      window. (not scrolling). </a:t>
            </a:r>
          </a:p>
          <a:p>
            <a:r>
              <a:rPr lang="en-IN" sz="2400" dirty="0" smtClean="0"/>
              <a:t>-d 	:	Displays "</a:t>
            </a:r>
            <a:r>
              <a:rPr lang="en-IN" sz="2400" i="1" dirty="0" smtClean="0"/>
              <a:t>Press space to continue, 'q' to quit</a:t>
            </a:r>
            <a:r>
              <a:rPr lang="en-IN" sz="2400" dirty="0" smtClean="0"/>
              <a:t>“</a:t>
            </a:r>
          </a:p>
          <a:p>
            <a:r>
              <a:rPr lang="en-IN" sz="2400" dirty="0" smtClean="0"/>
              <a:t>-w 	:	Waits for a user to press a key before </a:t>
            </a:r>
          </a:p>
          <a:p>
            <a:r>
              <a:rPr lang="en-IN" sz="2400" dirty="0" smtClean="0"/>
              <a:t>                      exiting. </a:t>
            </a:r>
          </a:p>
          <a:p>
            <a:r>
              <a:rPr lang="en-IN" sz="2400" dirty="0" smtClean="0"/>
              <a:t>-n 	:	Displays n lines per window.</a:t>
            </a:r>
            <a:endParaRPr lang="en-IN" sz="2400" dirty="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27384"/>
            <a:ext cx="7488832" cy="812303"/>
          </a:xfrm>
        </p:spPr>
        <p:txBody>
          <a:bodyPr/>
          <a:lstStyle/>
          <a:p>
            <a:r>
              <a:rPr lang="en-IN" dirty="0" smtClean="0"/>
              <a:t>File &amp; Directory Commands</a:t>
            </a:r>
            <a:endParaRPr lang="en-IN" dirty="0"/>
          </a:p>
        </p:txBody>
      </p:sp>
      <p:sp>
        <p:nvSpPr>
          <p:cNvPr id="5" name="TextBox 4"/>
          <p:cNvSpPr txBox="1"/>
          <p:nvPr/>
        </p:nvSpPr>
        <p:spPr>
          <a:xfrm>
            <a:off x="1331640" y="1074216"/>
            <a:ext cx="7344816" cy="4154984"/>
          </a:xfrm>
          <a:prstGeom prst="rect">
            <a:avLst/>
          </a:prstGeom>
          <a:noFill/>
        </p:spPr>
        <p:txBody>
          <a:bodyPr wrap="square" rtlCol="0">
            <a:spAutoFit/>
          </a:bodyPr>
          <a:lstStyle/>
          <a:p>
            <a:r>
              <a:rPr lang="en-IN" sz="2400" b="1" dirty="0" smtClean="0"/>
              <a:t>examples</a:t>
            </a:r>
          </a:p>
          <a:p>
            <a:r>
              <a:rPr lang="en-IN" sz="2400" dirty="0" smtClean="0"/>
              <a:t>more +3 myfile.txt </a:t>
            </a:r>
          </a:p>
          <a:p>
            <a:r>
              <a:rPr lang="en-IN" sz="2400" dirty="0" smtClean="0"/>
              <a:t>Display the contents of file </a:t>
            </a:r>
            <a:r>
              <a:rPr lang="en-IN" sz="2400" b="1" dirty="0" smtClean="0"/>
              <a:t>myfile.txt</a:t>
            </a:r>
            <a:r>
              <a:rPr lang="en-IN" sz="2400" dirty="0" smtClean="0"/>
              <a:t>, beginning at line 3.</a:t>
            </a:r>
          </a:p>
          <a:p>
            <a:endParaRPr lang="en-IN" sz="2400" dirty="0" smtClean="0"/>
          </a:p>
          <a:p>
            <a:r>
              <a:rPr lang="en-IN" sz="2400" dirty="0" smtClean="0"/>
              <a:t>more +/"hope" myfile.txt </a:t>
            </a:r>
          </a:p>
          <a:p>
            <a:r>
              <a:rPr lang="en-IN" sz="2400" dirty="0" smtClean="0"/>
              <a:t>Display the contents of file </a:t>
            </a:r>
            <a:r>
              <a:rPr lang="en-IN" sz="2400" b="1" dirty="0" smtClean="0"/>
              <a:t>myfile.txt</a:t>
            </a:r>
            <a:r>
              <a:rPr lang="en-IN" sz="2400" dirty="0" smtClean="0"/>
              <a:t>, beginning at the first line containing the string "</a:t>
            </a:r>
            <a:r>
              <a:rPr lang="en-IN" sz="2400" b="1" dirty="0" smtClean="0"/>
              <a:t>hope</a:t>
            </a:r>
            <a:r>
              <a:rPr lang="en-IN" sz="2400" dirty="0" smtClean="0"/>
              <a:t>".</a:t>
            </a:r>
          </a:p>
          <a:p>
            <a:endParaRPr lang="en-IN" sz="2400" dirty="0" smtClean="0"/>
          </a:p>
          <a:p>
            <a:r>
              <a:rPr lang="en-IN" sz="2400" dirty="0" err="1" smtClean="0"/>
              <a:t>ls</a:t>
            </a:r>
            <a:r>
              <a:rPr lang="en-IN" sz="2400" dirty="0" smtClean="0"/>
              <a:t> | more </a:t>
            </a:r>
          </a:p>
          <a:p>
            <a:r>
              <a:rPr lang="en-IN" sz="2400" dirty="0" smtClean="0"/>
              <a:t>List the contents of the current directory with </a:t>
            </a:r>
            <a:r>
              <a:rPr lang="en-IN" sz="2400" b="1" dirty="0" err="1" smtClean="0"/>
              <a:t>ls</a:t>
            </a:r>
            <a:r>
              <a:rPr lang="en-IN" sz="2400" dirty="0" smtClean="0"/>
              <a:t>, using </a:t>
            </a:r>
            <a:r>
              <a:rPr lang="en-IN" sz="2400" b="1" dirty="0" smtClean="0"/>
              <a:t>more</a:t>
            </a:r>
            <a:r>
              <a:rPr lang="en-IN" sz="2400" dirty="0" smtClean="0"/>
              <a:t> to display the list one screen at a time.</a:t>
            </a:r>
            <a:endParaRPr lang="en-IN" sz="2400" dirty="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27384"/>
            <a:ext cx="7488832" cy="812303"/>
          </a:xfrm>
        </p:spPr>
        <p:txBody>
          <a:bodyPr/>
          <a:lstStyle/>
          <a:p>
            <a:r>
              <a:rPr lang="en-IN" dirty="0" smtClean="0"/>
              <a:t>File &amp; Directory Commands</a:t>
            </a:r>
            <a:endParaRPr lang="en-IN" dirty="0"/>
          </a:p>
        </p:txBody>
      </p:sp>
      <p:sp>
        <p:nvSpPr>
          <p:cNvPr id="5" name="TextBox 4"/>
          <p:cNvSpPr txBox="1"/>
          <p:nvPr/>
        </p:nvSpPr>
        <p:spPr>
          <a:xfrm>
            <a:off x="1331640" y="1074216"/>
            <a:ext cx="7344816" cy="5262979"/>
          </a:xfrm>
          <a:prstGeom prst="rect">
            <a:avLst/>
          </a:prstGeom>
          <a:noFill/>
        </p:spPr>
        <p:txBody>
          <a:bodyPr wrap="square" rtlCol="0">
            <a:spAutoFit/>
          </a:bodyPr>
          <a:lstStyle/>
          <a:p>
            <a:r>
              <a:rPr lang="en-IN" sz="2400" b="1" dirty="0" smtClean="0"/>
              <a:t>less</a:t>
            </a:r>
          </a:p>
          <a:p>
            <a:r>
              <a:rPr lang="en-US" sz="2400" dirty="0" smtClean="0"/>
              <a:t>This command is used to see the information of the document page wise.  This command work just like more command and it is older version.</a:t>
            </a:r>
            <a:endParaRPr lang="en-IN" sz="2400" dirty="0" smtClean="0"/>
          </a:p>
          <a:p>
            <a:r>
              <a:rPr lang="en-US" sz="2400" dirty="0" smtClean="0"/>
              <a:t> </a:t>
            </a:r>
            <a:endParaRPr lang="en-IN" sz="2400" dirty="0" smtClean="0"/>
          </a:p>
          <a:p>
            <a:r>
              <a:rPr lang="en-US" sz="2400" b="1" dirty="0" smtClean="0"/>
              <a:t>Syntax</a:t>
            </a:r>
            <a:endParaRPr lang="en-IN" sz="2400" b="1" dirty="0" smtClean="0"/>
          </a:p>
          <a:p>
            <a:r>
              <a:rPr lang="en-US" sz="2400" dirty="0" smtClean="0"/>
              <a:t> </a:t>
            </a:r>
            <a:endParaRPr lang="en-IN" sz="2400" dirty="0" smtClean="0"/>
          </a:p>
          <a:p>
            <a:r>
              <a:rPr lang="en-US" sz="2400" dirty="0" smtClean="0"/>
              <a:t>	</a:t>
            </a:r>
            <a:r>
              <a:rPr lang="en-US" sz="2400" b="1" dirty="0" smtClean="0"/>
              <a:t>$less File Name		Press q to exit</a:t>
            </a:r>
            <a:endParaRPr lang="en-IN" sz="2400" dirty="0" smtClean="0"/>
          </a:p>
          <a:p>
            <a:r>
              <a:rPr lang="en-US" sz="2400" dirty="0" smtClean="0"/>
              <a:t> </a:t>
            </a:r>
            <a:endParaRPr lang="en-IN" sz="2400" dirty="0" smtClean="0"/>
          </a:p>
          <a:p>
            <a:r>
              <a:rPr lang="en-US" sz="2400" b="1" dirty="0" smtClean="0"/>
              <a:t>Example</a:t>
            </a:r>
            <a:endParaRPr lang="en-IN" sz="2400" b="1" dirty="0" smtClean="0"/>
          </a:p>
          <a:p>
            <a:r>
              <a:rPr lang="en-US" sz="2400" dirty="0" smtClean="0"/>
              <a:t> </a:t>
            </a:r>
            <a:endParaRPr lang="en-IN" sz="2400" dirty="0" smtClean="0"/>
          </a:p>
          <a:p>
            <a:r>
              <a:rPr lang="en-US" sz="2400" dirty="0" smtClean="0"/>
              <a:t>	</a:t>
            </a:r>
            <a:r>
              <a:rPr lang="en-US" sz="2400" b="1" dirty="0" smtClean="0"/>
              <a:t>$less abc.txt</a:t>
            </a:r>
            <a:endParaRPr lang="en-IN" sz="2400" dirty="0" smtClean="0"/>
          </a:p>
          <a:p>
            <a:r>
              <a:rPr lang="en-US" sz="2400" dirty="0" smtClean="0"/>
              <a:t> </a:t>
            </a:r>
            <a:endParaRPr lang="en-IN" sz="2400" dirty="0" smtClean="0"/>
          </a:p>
          <a:p>
            <a:endParaRPr lang="en-IN" sz="2400" dirty="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27384"/>
            <a:ext cx="7488832" cy="812303"/>
          </a:xfrm>
        </p:spPr>
        <p:txBody>
          <a:bodyPr/>
          <a:lstStyle/>
          <a:p>
            <a:r>
              <a:rPr lang="en-IN" dirty="0" smtClean="0"/>
              <a:t>File &amp; Directory Commands</a:t>
            </a:r>
            <a:endParaRPr lang="en-IN" dirty="0"/>
          </a:p>
        </p:txBody>
      </p:sp>
      <p:sp>
        <p:nvSpPr>
          <p:cNvPr id="5" name="TextBox 4"/>
          <p:cNvSpPr txBox="1"/>
          <p:nvPr/>
        </p:nvSpPr>
        <p:spPr>
          <a:xfrm>
            <a:off x="1331640" y="874449"/>
            <a:ext cx="7344816" cy="5632311"/>
          </a:xfrm>
          <a:prstGeom prst="rect">
            <a:avLst/>
          </a:prstGeom>
          <a:noFill/>
        </p:spPr>
        <p:txBody>
          <a:bodyPr wrap="square" rtlCol="0">
            <a:spAutoFit/>
          </a:bodyPr>
          <a:lstStyle/>
          <a:p>
            <a:r>
              <a:rPr lang="en-US" sz="2400" b="1" dirty="0" smtClean="0"/>
              <a:t>Navigation of less Command</a:t>
            </a:r>
          </a:p>
          <a:p>
            <a:endParaRPr lang="en-US" sz="2400" dirty="0" smtClean="0"/>
          </a:p>
          <a:p>
            <a:r>
              <a:rPr lang="en-US" sz="2400" dirty="0" smtClean="0"/>
              <a:t>	f or spacebar		To move page forward</a:t>
            </a:r>
            <a:endParaRPr lang="en-IN" sz="2400" dirty="0" smtClean="0"/>
          </a:p>
          <a:p>
            <a:r>
              <a:rPr lang="en-US" sz="2400" dirty="0" smtClean="0"/>
              <a:t> </a:t>
            </a:r>
            <a:endParaRPr lang="en-IN" sz="2400" dirty="0" smtClean="0"/>
          </a:p>
          <a:p>
            <a:r>
              <a:rPr lang="en-US" sz="2400" dirty="0" smtClean="0"/>
              <a:t>	b			To move back one page</a:t>
            </a:r>
            <a:endParaRPr lang="en-IN" sz="2400" dirty="0" smtClean="0"/>
          </a:p>
          <a:p>
            <a:r>
              <a:rPr lang="en-US" sz="2400" dirty="0" smtClean="0"/>
              <a:t> </a:t>
            </a:r>
            <a:endParaRPr lang="en-IN" sz="2400" dirty="0" smtClean="0"/>
          </a:p>
          <a:p>
            <a:r>
              <a:rPr lang="en-US" sz="2400" dirty="0" smtClean="0"/>
              <a:t>	Enter or j		One line forward</a:t>
            </a:r>
            <a:endParaRPr lang="en-IN" sz="2400" dirty="0" smtClean="0"/>
          </a:p>
          <a:p>
            <a:r>
              <a:rPr lang="en-US" sz="2400" dirty="0" smtClean="0"/>
              <a:t> </a:t>
            </a:r>
            <a:endParaRPr lang="en-IN" sz="2400" dirty="0" smtClean="0"/>
          </a:p>
          <a:p>
            <a:r>
              <a:rPr lang="en-US" sz="2400" dirty="0" smtClean="0"/>
              <a:t>	k			One line back</a:t>
            </a:r>
            <a:endParaRPr lang="en-IN" sz="2400" dirty="0" smtClean="0"/>
          </a:p>
          <a:p>
            <a:r>
              <a:rPr lang="en-US" sz="2400" dirty="0" smtClean="0"/>
              <a:t> </a:t>
            </a:r>
            <a:endParaRPr lang="en-IN" sz="2400" dirty="0" smtClean="0"/>
          </a:p>
          <a:p>
            <a:r>
              <a:rPr lang="en-US" sz="2400" dirty="0" smtClean="0"/>
              <a:t>	p 			Beginning of file</a:t>
            </a:r>
            <a:endParaRPr lang="en-IN" sz="2400" dirty="0" smtClean="0"/>
          </a:p>
          <a:p>
            <a:r>
              <a:rPr lang="en-US" sz="2400" dirty="0" smtClean="0"/>
              <a:t> </a:t>
            </a:r>
            <a:endParaRPr lang="en-IN" sz="2400" dirty="0" smtClean="0"/>
          </a:p>
          <a:p>
            <a:r>
              <a:rPr lang="en-US" sz="2400" dirty="0" smtClean="0"/>
              <a:t>	G			End of file</a:t>
            </a:r>
            <a:endParaRPr lang="en-IN" sz="2400" dirty="0" smtClean="0"/>
          </a:p>
          <a:p>
            <a:r>
              <a:rPr lang="en-US" sz="2400" dirty="0" smtClean="0"/>
              <a:t> </a:t>
            </a:r>
            <a:endParaRPr lang="en-IN" sz="2400" dirty="0" smtClean="0"/>
          </a:p>
          <a:p>
            <a:r>
              <a:rPr lang="en-US" sz="2400" dirty="0" smtClean="0"/>
              <a:t>	q			Quit</a:t>
            </a:r>
            <a:endParaRPr lang="en-IN" sz="2400" dirty="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27384"/>
            <a:ext cx="7488832" cy="812303"/>
          </a:xfrm>
        </p:spPr>
        <p:txBody>
          <a:bodyPr/>
          <a:lstStyle/>
          <a:p>
            <a:r>
              <a:rPr lang="en-IN" dirty="0" smtClean="0"/>
              <a:t>File &amp; Directory Commands</a:t>
            </a:r>
            <a:endParaRPr lang="en-IN" dirty="0"/>
          </a:p>
        </p:txBody>
      </p:sp>
      <p:sp>
        <p:nvSpPr>
          <p:cNvPr id="5" name="TextBox 4"/>
          <p:cNvSpPr txBox="1"/>
          <p:nvPr/>
        </p:nvSpPr>
        <p:spPr>
          <a:xfrm>
            <a:off x="1331640" y="874449"/>
            <a:ext cx="7344816" cy="6370975"/>
          </a:xfrm>
          <a:prstGeom prst="rect">
            <a:avLst/>
          </a:prstGeom>
          <a:noFill/>
        </p:spPr>
        <p:txBody>
          <a:bodyPr wrap="square" rtlCol="0">
            <a:spAutoFit/>
          </a:bodyPr>
          <a:lstStyle/>
          <a:p>
            <a:r>
              <a:rPr lang="en-US" sz="2400" b="1" dirty="0" smtClean="0"/>
              <a:t>head</a:t>
            </a:r>
          </a:p>
          <a:p>
            <a:r>
              <a:rPr lang="en-US" sz="2400" dirty="0" smtClean="0"/>
              <a:t>head command help in viewing lines at the beginning of the file respectively.</a:t>
            </a:r>
          </a:p>
          <a:p>
            <a:endParaRPr lang="en-US" sz="2400" dirty="0" smtClean="0"/>
          </a:p>
          <a:p>
            <a:r>
              <a:rPr lang="en-US" sz="2400" b="1" dirty="0" smtClean="0"/>
              <a:t>Syntax:</a:t>
            </a:r>
            <a:endParaRPr lang="en-IN" sz="2400" dirty="0" smtClean="0"/>
          </a:p>
          <a:p>
            <a:r>
              <a:rPr lang="en-US" sz="2400" b="1" dirty="0" smtClean="0"/>
              <a:t>		$head –</a:t>
            </a:r>
            <a:r>
              <a:rPr lang="en-US" sz="2400" b="1" dirty="0" err="1" smtClean="0"/>
              <a:t>LineNumber</a:t>
            </a:r>
            <a:r>
              <a:rPr lang="en-US" sz="2400" b="1" dirty="0" smtClean="0"/>
              <a:t> File Name</a:t>
            </a:r>
            <a:endParaRPr lang="en-IN" sz="2400" dirty="0" smtClean="0"/>
          </a:p>
          <a:p>
            <a:r>
              <a:rPr lang="en-US" sz="2400" dirty="0" smtClean="0"/>
              <a:t> </a:t>
            </a:r>
            <a:endParaRPr lang="en-IN" sz="2400" dirty="0" smtClean="0"/>
          </a:p>
          <a:p>
            <a:r>
              <a:rPr lang="en-US" sz="2400" dirty="0" smtClean="0"/>
              <a:t>	Unless otherwise specified the head command assumes that you want to display first 10 lines in the file.  Should you decide to view first fifteen lines you simply have to say.</a:t>
            </a:r>
            <a:endParaRPr lang="en-IN" sz="2400" dirty="0" smtClean="0"/>
          </a:p>
          <a:p>
            <a:r>
              <a:rPr lang="en-US" sz="2400" dirty="0" smtClean="0"/>
              <a:t>		</a:t>
            </a:r>
            <a:r>
              <a:rPr lang="en-US" sz="2400" b="1" dirty="0" smtClean="0"/>
              <a:t>$head -5 </a:t>
            </a:r>
            <a:r>
              <a:rPr lang="en-US" sz="2400" b="1" dirty="0" err="1" smtClean="0"/>
              <a:t>myfile</a:t>
            </a:r>
            <a:endParaRPr lang="en-IN" sz="2400" dirty="0" smtClean="0"/>
          </a:p>
          <a:p>
            <a:r>
              <a:rPr lang="en-US" sz="2400" dirty="0" smtClean="0"/>
              <a:t> </a:t>
            </a:r>
            <a:endParaRPr lang="en-IN" sz="2400" dirty="0" smtClean="0"/>
          </a:p>
          <a:p>
            <a:r>
              <a:rPr lang="en-US" sz="2400" dirty="0" smtClean="0"/>
              <a:t>	Here with head command we can specify the number of lines if we decide to override this default value.</a:t>
            </a:r>
            <a:endParaRPr lang="en-IN" sz="2400" dirty="0" smtClean="0"/>
          </a:p>
          <a:p>
            <a:endParaRPr lang="en-IN" sz="2400" dirty="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27384"/>
            <a:ext cx="7488832" cy="812303"/>
          </a:xfrm>
        </p:spPr>
        <p:txBody>
          <a:bodyPr/>
          <a:lstStyle/>
          <a:p>
            <a:r>
              <a:rPr lang="en-IN" dirty="0" smtClean="0"/>
              <a:t>File &amp; Directory Commands</a:t>
            </a:r>
            <a:endParaRPr lang="en-IN" dirty="0"/>
          </a:p>
        </p:txBody>
      </p:sp>
      <p:sp>
        <p:nvSpPr>
          <p:cNvPr id="5" name="TextBox 4"/>
          <p:cNvSpPr txBox="1"/>
          <p:nvPr/>
        </p:nvSpPr>
        <p:spPr>
          <a:xfrm>
            <a:off x="1331640" y="874449"/>
            <a:ext cx="7344816" cy="5632311"/>
          </a:xfrm>
          <a:prstGeom prst="rect">
            <a:avLst/>
          </a:prstGeom>
          <a:noFill/>
        </p:spPr>
        <p:txBody>
          <a:bodyPr wrap="square" rtlCol="0">
            <a:spAutoFit/>
          </a:bodyPr>
          <a:lstStyle/>
          <a:p>
            <a:r>
              <a:rPr lang="en-US" sz="2400" b="1" dirty="0" smtClean="0"/>
              <a:t>tail</a:t>
            </a:r>
          </a:p>
          <a:p>
            <a:r>
              <a:rPr lang="en-US" sz="2400" dirty="0" smtClean="0"/>
              <a:t>tail command help in viewing lines at the ending of the file respectively.</a:t>
            </a:r>
          </a:p>
          <a:p>
            <a:r>
              <a:rPr lang="en-US" sz="2400" b="1" dirty="0" smtClean="0"/>
              <a:t>Syntax: </a:t>
            </a:r>
            <a:endParaRPr lang="en-IN" sz="2400" dirty="0" smtClean="0"/>
          </a:p>
          <a:p>
            <a:r>
              <a:rPr lang="en-US" sz="2400" b="1" dirty="0" smtClean="0"/>
              <a:t>		$tail –</a:t>
            </a:r>
            <a:r>
              <a:rPr lang="en-US" sz="2400" b="1" dirty="0" err="1" smtClean="0"/>
              <a:t>LineNumber</a:t>
            </a:r>
            <a:r>
              <a:rPr lang="en-US" sz="2400" b="1" dirty="0" smtClean="0"/>
              <a:t>	</a:t>
            </a:r>
            <a:r>
              <a:rPr lang="en-US" sz="2400" b="1" dirty="0" err="1" smtClean="0"/>
              <a:t>FileName</a:t>
            </a:r>
            <a:endParaRPr lang="en-IN" sz="2400" dirty="0" smtClean="0"/>
          </a:p>
          <a:p>
            <a:r>
              <a:rPr lang="en-US" sz="2400" dirty="0" smtClean="0"/>
              <a:t> Unless </a:t>
            </a:r>
            <a:endParaRPr lang="en-IN" sz="2400" dirty="0" smtClean="0"/>
          </a:p>
          <a:p>
            <a:r>
              <a:rPr lang="en-US" sz="2400" dirty="0" smtClean="0"/>
              <a:t>	otherwise specified the tail command assumes that you want to display last 10 lines in the file.  Should you decide to view last fifteen lines you simply have to say.</a:t>
            </a:r>
            <a:endParaRPr lang="en-IN" sz="2400" dirty="0" smtClean="0"/>
          </a:p>
          <a:p>
            <a:r>
              <a:rPr lang="en-US" sz="2400" dirty="0" smtClean="0"/>
              <a:t> </a:t>
            </a:r>
            <a:endParaRPr lang="en-IN" sz="2400" dirty="0" smtClean="0"/>
          </a:p>
          <a:p>
            <a:r>
              <a:rPr lang="en-US" sz="2400" b="1" dirty="0" smtClean="0"/>
              <a:t>	$tail -5 </a:t>
            </a:r>
            <a:r>
              <a:rPr lang="en-US" sz="2400" b="1" dirty="0" err="1" smtClean="0"/>
              <a:t>myfile</a:t>
            </a:r>
            <a:r>
              <a:rPr lang="en-US" sz="2400" dirty="0" smtClean="0"/>
              <a:t> </a:t>
            </a:r>
            <a:endParaRPr lang="en-IN" sz="2400" dirty="0" smtClean="0"/>
          </a:p>
          <a:p>
            <a:r>
              <a:rPr lang="en-US" sz="2400" dirty="0" smtClean="0"/>
              <a:t>	Here with tail command we can specify the number of lines if we decide to override this default value.</a:t>
            </a:r>
            <a:endParaRPr lang="en-IN" sz="2400" dirty="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27384"/>
            <a:ext cx="7488832" cy="812303"/>
          </a:xfrm>
        </p:spPr>
        <p:txBody>
          <a:bodyPr/>
          <a:lstStyle/>
          <a:p>
            <a:r>
              <a:rPr lang="en-IN" dirty="0" smtClean="0"/>
              <a:t>File &amp; Directory Commands</a:t>
            </a:r>
            <a:endParaRPr lang="en-IN" dirty="0"/>
          </a:p>
        </p:txBody>
      </p:sp>
      <p:sp>
        <p:nvSpPr>
          <p:cNvPr id="5" name="TextBox 4"/>
          <p:cNvSpPr txBox="1"/>
          <p:nvPr/>
        </p:nvSpPr>
        <p:spPr>
          <a:xfrm>
            <a:off x="1331640" y="874449"/>
            <a:ext cx="7344816" cy="4893647"/>
          </a:xfrm>
          <a:prstGeom prst="rect">
            <a:avLst/>
          </a:prstGeom>
          <a:noFill/>
        </p:spPr>
        <p:txBody>
          <a:bodyPr wrap="square" rtlCol="0">
            <a:spAutoFit/>
          </a:bodyPr>
          <a:lstStyle/>
          <a:p>
            <a:r>
              <a:rPr lang="en-US" sz="2400" b="1" dirty="0" err="1" smtClean="0"/>
              <a:t>wc</a:t>
            </a:r>
            <a:r>
              <a:rPr lang="en-US" sz="2400" b="1" dirty="0" smtClean="0"/>
              <a:t> (Word Count)</a:t>
            </a:r>
          </a:p>
          <a:p>
            <a:r>
              <a:rPr lang="en-US" sz="2400" dirty="0" smtClean="0"/>
              <a:t>This command is used to count number of characters, words and lines in an given input file.  If file is not given, it takes input from standard input.</a:t>
            </a:r>
          </a:p>
          <a:p>
            <a:endParaRPr lang="en-US" sz="2400" dirty="0" smtClean="0"/>
          </a:p>
          <a:p>
            <a:r>
              <a:rPr lang="en-US" sz="2400" b="1" dirty="0" smtClean="0"/>
              <a:t>Syntax</a:t>
            </a:r>
            <a:endParaRPr lang="en-IN" sz="2400" dirty="0" smtClean="0"/>
          </a:p>
          <a:p>
            <a:r>
              <a:rPr lang="en-US" sz="2400" dirty="0" smtClean="0"/>
              <a:t> </a:t>
            </a:r>
            <a:endParaRPr lang="en-IN" sz="2400" dirty="0" smtClean="0"/>
          </a:p>
          <a:p>
            <a:r>
              <a:rPr lang="en-US" sz="2400" dirty="0" smtClean="0"/>
              <a:t>	</a:t>
            </a:r>
            <a:r>
              <a:rPr lang="en-US" sz="2400" b="1" dirty="0" smtClean="0"/>
              <a:t>$</a:t>
            </a:r>
            <a:r>
              <a:rPr lang="en-US" sz="2400" b="1" dirty="0" err="1" smtClean="0"/>
              <a:t>wc</a:t>
            </a:r>
            <a:r>
              <a:rPr lang="en-US" sz="2400" b="1" dirty="0" smtClean="0"/>
              <a:t>  [Option]  File Name</a:t>
            </a:r>
            <a:endParaRPr lang="en-IN" sz="2400" dirty="0" smtClean="0"/>
          </a:p>
          <a:p>
            <a:r>
              <a:rPr lang="en-US" sz="2400" dirty="0" smtClean="0"/>
              <a:t> </a:t>
            </a:r>
            <a:endParaRPr lang="en-IN" sz="2400" dirty="0" smtClean="0"/>
          </a:p>
          <a:p>
            <a:r>
              <a:rPr lang="en-US" sz="2400" b="1" dirty="0" smtClean="0"/>
              <a:t>Options</a:t>
            </a:r>
            <a:endParaRPr lang="en-IN" sz="2400" dirty="0" smtClean="0"/>
          </a:p>
          <a:p>
            <a:r>
              <a:rPr lang="en-US" sz="2400" dirty="0" smtClean="0"/>
              <a:t>	-l		Counts number of lines</a:t>
            </a:r>
            <a:endParaRPr lang="en-IN" sz="2400" dirty="0" smtClean="0"/>
          </a:p>
          <a:p>
            <a:r>
              <a:rPr lang="en-US" sz="2400" dirty="0" smtClean="0"/>
              <a:t>	-w		Counts number of words</a:t>
            </a:r>
            <a:endParaRPr lang="en-IN" sz="2400" dirty="0" smtClean="0"/>
          </a:p>
          <a:p>
            <a:r>
              <a:rPr lang="en-US" sz="2400" dirty="0" smtClean="0"/>
              <a:t>	-c		Counts number of characters</a:t>
            </a:r>
            <a:endParaRPr lang="en-IN" sz="2400" dirty="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27384"/>
            <a:ext cx="7488832" cy="812303"/>
          </a:xfrm>
        </p:spPr>
        <p:txBody>
          <a:bodyPr/>
          <a:lstStyle/>
          <a:p>
            <a:r>
              <a:rPr lang="en-IN" dirty="0" smtClean="0"/>
              <a:t>File &amp; Directory Commands</a:t>
            </a:r>
            <a:endParaRPr lang="en-IN" dirty="0"/>
          </a:p>
        </p:txBody>
      </p:sp>
      <p:sp>
        <p:nvSpPr>
          <p:cNvPr id="5" name="TextBox 4"/>
          <p:cNvSpPr txBox="1"/>
          <p:nvPr/>
        </p:nvSpPr>
        <p:spPr>
          <a:xfrm>
            <a:off x="1331640" y="874449"/>
            <a:ext cx="7344816" cy="5262979"/>
          </a:xfrm>
          <a:prstGeom prst="rect">
            <a:avLst/>
          </a:prstGeom>
          <a:noFill/>
        </p:spPr>
        <p:txBody>
          <a:bodyPr wrap="square" rtlCol="0">
            <a:spAutoFit/>
          </a:bodyPr>
          <a:lstStyle/>
          <a:p>
            <a:r>
              <a:rPr lang="en-US" sz="2400" b="1" dirty="0" smtClean="0"/>
              <a:t>Example </a:t>
            </a:r>
            <a:endParaRPr lang="en-IN" sz="2400" dirty="0" smtClean="0"/>
          </a:p>
          <a:p>
            <a:r>
              <a:rPr lang="en-US" sz="2400" dirty="0" smtClean="0"/>
              <a:t> </a:t>
            </a:r>
            <a:endParaRPr lang="en-IN" sz="2400" dirty="0" smtClean="0"/>
          </a:p>
          <a:p>
            <a:r>
              <a:rPr lang="en-US" sz="2400" dirty="0" smtClean="0"/>
              <a:t>	A file abc.txt having following data</a:t>
            </a:r>
            <a:endParaRPr lang="en-IN" sz="2400" dirty="0" smtClean="0"/>
          </a:p>
          <a:p>
            <a:r>
              <a:rPr lang="en-US" sz="2400" dirty="0" smtClean="0"/>
              <a:t> </a:t>
            </a:r>
            <a:endParaRPr lang="en-IN" sz="2400" dirty="0" smtClean="0"/>
          </a:p>
          <a:p>
            <a:r>
              <a:rPr lang="en-US" sz="2400" dirty="0" smtClean="0"/>
              <a:t>	1 2 3 4 5 6 7 8 9 10</a:t>
            </a:r>
            <a:endParaRPr lang="en-IN" sz="2400" dirty="0" smtClean="0"/>
          </a:p>
          <a:p>
            <a:r>
              <a:rPr lang="en-US" sz="2400" dirty="0" smtClean="0"/>
              <a:t>	1 2 3 4 5 6 7 8 9 10</a:t>
            </a:r>
            <a:endParaRPr lang="en-IN" sz="2400" dirty="0" smtClean="0"/>
          </a:p>
          <a:p>
            <a:r>
              <a:rPr lang="en-US" sz="2400" dirty="0" smtClean="0"/>
              <a:t> </a:t>
            </a:r>
            <a:endParaRPr lang="en-IN" sz="2400" dirty="0" smtClean="0"/>
          </a:p>
          <a:p>
            <a:r>
              <a:rPr lang="en-US" sz="2400" dirty="0" smtClean="0"/>
              <a:t>	</a:t>
            </a:r>
            <a:r>
              <a:rPr lang="en-US" sz="2400" b="1" dirty="0" smtClean="0"/>
              <a:t>$ </a:t>
            </a:r>
            <a:r>
              <a:rPr lang="en-US" sz="2400" b="1" dirty="0" err="1" smtClean="0"/>
              <a:t>wc</a:t>
            </a:r>
            <a:r>
              <a:rPr lang="en-US" sz="2400" b="1" dirty="0" smtClean="0"/>
              <a:t> abc.txt</a:t>
            </a:r>
            <a:endParaRPr lang="en-IN" sz="2400" dirty="0" smtClean="0"/>
          </a:p>
          <a:p>
            <a:r>
              <a:rPr lang="en-US" sz="2400" dirty="0" smtClean="0"/>
              <a:t> </a:t>
            </a:r>
            <a:endParaRPr lang="en-IN" sz="2400" dirty="0" smtClean="0"/>
          </a:p>
          <a:p>
            <a:r>
              <a:rPr lang="en-US" sz="2400" b="1" dirty="0" smtClean="0"/>
              <a:t>Output</a:t>
            </a:r>
            <a:endParaRPr lang="en-IN" sz="2400" dirty="0" smtClean="0"/>
          </a:p>
          <a:p>
            <a:r>
              <a:rPr lang="en-US" sz="2400" dirty="0" smtClean="0"/>
              <a:t>	</a:t>
            </a:r>
            <a:endParaRPr lang="en-IN" sz="2400" dirty="0" smtClean="0"/>
          </a:p>
          <a:p>
            <a:r>
              <a:rPr lang="en-US" sz="2400" dirty="0" smtClean="0"/>
              <a:t>	</a:t>
            </a:r>
            <a:r>
              <a:rPr lang="en-US" sz="2400" b="1" dirty="0" smtClean="0"/>
              <a:t>2	20	42	abc.txt</a:t>
            </a:r>
            <a:endParaRPr lang="en-IN" sz="2400" dirty="0" smtClean="0"/>
          </a:p>
          <a:p>
            <a:r>
              <a:rPr lang="en-US" sz="2400" dirty="0" smtClean="0"/>
              <a:t> </a:t>
            </a:r>
            <a:endParaRPr lang="en-IN" sz="2400" dirty="0" smtClean="0"/>
          </a:p>
          <a:p>
            <a:r>
              <a:rPr lang="en-US" sz="2400" b="1" dirty="0" smtClean="0"/>
              <a:t>Note:</a:t>
            </a:r>
            <a:r>
              <a:rPr lang="en-US" sz="2400" dirty="0" smtClean="0"/>
              <a:t>	Spacebar and Enter also known as on character</a:t>
            </a:r>
            <a:endParaRPr lang="en-IN" sz="2400" dirty="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27384"/>
            <a:ext cx="7488832" cy="812303"/>
          </a:xfrm>
        </p:spPr>
        <p:txBody>
          <a:bodyPr/>
          <a:lstStyle/>
          <a:p>
            <a:r>
              <a:rPr lang="en-IN" dirty="0" smtClean="0"/>
              <a:t>File &amp; Directory Commands</a:t>
            </a:r>
            <a:endParaRPr lang="en-IN" dirty="0"/>
          </a:p>
        </p:txBody>
      </p:sp>
      <p:sp>
        <p:nvSpPr>
          <p:cNvPr id="5" name="TextBox 4"/>
          <p:cNvSpPr txBox="1"/>
          <p:nvPr/>
        </p:nvSpPr>
        <p:spPr>
          <a:xfrm>
            <a:off x="1331640" y="874449"/>
            <a:ext cx="7344816" cy="6001643"/>
          </a:xfrm>
          <a:prstGeom prst="rect">
            <a:avLst/>
          </a:prstGeom>
          <a:noFill/>
        </p:spPr>
        <p:txBody>
          <a:bodyPr wrap="square" rtlCol="0">
            <a:spAutoFit/>
          </a:bodyPr>
          <a:lstStyle/>
          <a:p>
            <a:r>
              <a:rPr lang="en-US" sz="2400" b="1" dirty="0" smtClean="0"/>
              <a:t>touch (Changing the time stamp)</a:t>
            </a:r>
            <a:endParaRPr lang="en-IN" sz="2400" dirty="0" smtClean="0"/>
          </a:p>
          <a:p>
            <a:r>
              <a:rPr lang="en-US" sz="2400" dirty="0" smtClean="0"/>
              <a:t> </a:t>
            </a:r>
            <a:endParaRPr lang="en-IN" sz="2400" dirty="0" smtClean="0"/>
          </a:p>
          <a:p>
            <a:r>
              <a:rPr lang="en-US" sz="2400" dirty="0" smtClean="0"/>
              <a:t>	This command is used to change the time stamp.</a:t>
            </a:r>
            <a:endParaRPr lang="en-IN" sz="2400" dirty="0" smtClean="0"/>
          </a:p>
          <a:p>
            <a:r>
              <a:rPr lang="en-US" sz="2400" dirty="0" smtClean="0"/>
              <a:t> </a:t>
            </a:r>
            <a:endParaRPr lang="en-IN" sz="2400" dirty="0" smtClean="0"/>
          </a:p>
          <a:p>
            <a:r>
              <a:rPr lang="en-US" sz="2400" b="1" dirty="0" smtClean="0"/>
              <a:t>Syntax</a:t>
            </a:r>
            <a:endParaRPr lang="en-IN" sz="2400" dirty="0" smtClean="0"/>
          </a:p>
          <a:p>
            <a:r>
              <a:rPr lang="en-US" sz="2400" dirty="0" smtClean="0"/>
              <a:t> </a:t>
            </a:r>
            <a:endParaRPr lang="en-IN" sz="2400" dirty="0" smtClean="0"/>
          </a:p>
          <a:p>
            <a:r>
              <a:rPr lang="en-US" sz="2400" dirty="0" smtClean="0"/>
              <a:t>	</a:t>
            </a:r>
            <a:r>
              <a:rPr lang="en-US" sz="2400" b="1" dirty="0" smtClean="0"/>
              <a:t>$touch    File Name</a:t>
            </a:r>
          </a:p>
          <a:p>
            <a:r>
              <a:rPr lang="en-US" sz="2400" dirty="0"/>
              <a:t>EXAMPLE: </a:t>
            </a:r>
            <a:endParaRPr lang="en-US" sz="2400" dirty="0" smtClean="0"/>
          </a:p>
          <a:p>
            <a:r>
              <a:rPr lang="en-US" sz="2400" dirty="0" smtClean="0"/>
              <a:t>$touch </a:t>
            </a:r>
            <a:r>
              <a:rPr lang="en-US" sz="2400" dirty="0"/>
              <a:t>-d ‘1 MAY 2023 11:11’ std1.txt </a:t>
            </a:r>
            <a:endParaRPr lang="en-US" sz="2400" b="1" dirty="0" smtClean="0"/>
          </a:p>
          <a:p>
            <a:endParaRPr lang="en-US" sz="2400" b="1" dirty="0" smtClean="0"/>
          </a:p>
          <a:p>
            <a:r>
              <a:rPr lang="en-IN" sz="2400" b="1" u="sng" dirty="0" smtClean="0"/>
              <a:t>Timestamp  	Description 	</a:t>
            </a:r>
          </a:p>
          <a:p>
            <a:r>
              <a:rPr lang="en-IN" sz="2400" dirty="0" smtClean="0"/>
              <a:t>Access time 	The last time the file was read.  -   </a:t>
            </a:r>
            <a:r>
              <a:rPr lang="en-IN" sz="2400" b="1" dirty="0" err="1" smtClean="0"/>
              <a:t>atime</a:t>
            </a:r>
            <a:r>
              <a:rPr lang="en-IN" sz="2400" dirty="0" smtClean="0"/>
              <a:t> </a:t>
            </a:r>
          </a:p>
          <a:p>
            <a:r>
              <a:rPr lang="en-IN" sz="2400" dirty="0" smtClean="0"/>
              <a:t>Modification  	The last time the contents of </a:t>
            </a:r>
          </a:p>
          <a:p>
            <a:r>
              <a:rPr lang="en-IN" sz="2400" dirty="0" smtClean="0"/>
              <a:t>                      the file were modified.              -   </a:t>
            </a:r>
            <a:r>
              <a:rPr lang="en-IN" sz="2400" b="1" dirty="0" err="1" smtClean="0"/>
              <a:t>mtime</a:t>
            </a:r>
            <a:r>
              <a:rPr lang="en-IN" sz="2400" dirty="0" smtClean="0"/>
              <a:t> </a:t>
            </a:r>
          </a:p>
          <a:p>
            <a:r>
              <a:rPr lang="en-IN" sz="2400" dirty="0" smtClean="0"/>
              <a:t>Change time 	The last time the file's Status, </a:t>
            </a:r>
          </a:p>
          <a:p>
            <a:r>
              <a:rPr lang="en-IN" sz="2400" dirty="0" smtClean="0"/>
              <a:t>                      was changed.                            -   </a:t>
            </a:r>
            <a:r>
              <a:rPr lang="en-IN" sz="2400" b="1" dirty="0" err="1" smtClean="0"/>
              <a:t>ctime</a:t>
            </a:r>
            <a:endParaRPr lang="en-IN" sz="2400" dirty="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96417"/>
            <a:ext cx="7488832" cy="812303"/>
          </a:xfrm>
        </p:spPr>
        <p:txBody>
          <a:bodyPr/>
          <a:lstStyle/>
          <a:p>
            <a:r>
              <a:rPr lang="en-IN" dirty="0" smtClean="0"/>
              <a:t>File &amp; Directory Commands</a:t>
            </a:r>
            <a:endParaRPr lang="en-IN" dirty="0"/>
          </a:p>
        </p:txBody>
      </p:sp>
      <p:sp>
        <p:nvSpPr>
          <p:cNvPr id="5" name="TextBox 4"/>
          <p:cNvSpPr txBox="1"/>
          <p:nvPr/>
        </p:nvSpPr>
        <p:spPr>
          <a:xfrm>
            <a:off x="1331640" y="874449"/>
            <a:ext cx="7344816" cy="6401753"/>
          </a:xfrm>
          <a:prstGeom prst="rect">
            <a:avLst/>
          </a:prstGeom>
          <a:noFill/>
        </p:spPr>
        <p:txBody>
          <a:bodyPr wrap="square" rtlCol="0">
            <a:spAutoFit/>
          </a:bodyPr>
          <a:lstStyle/>
          <a:p>
            <a:r>
              <a:rPr lang="en-IN" sz="1400" dirty="0" smtClean="0"/>
              <a:t>With no options, </a:t>
            </a:r>
            <a:r>
              <a:rPr lang="en-IN" sz="1400" b="1" dirty="0" smtClean="0"/>
              <a:t>touch</a:t>
            </a:r>
            <a:r>
              <a:rPr lang="en-IN" sz="1400" dirty="0" smtClean="0"/>
              <a:t> will change the </a:t>
            </a:r>
            <a:r>
              <a:rPr lang="en-IN" sz="1400" dirty="0" err="1" smtClean="0"/>
              <a:t>atime</a:t>
            </a:r>
            <a:r>
              <a:rPr lang="en-IN" sz="1400" dirty="0" smtClean="0"/>
              <a:t>, </a:t>
            </a:r>
            <a:r>
              <a:rPr lang="en-IN" sz="1400" dirty="0" err="1" smtClean="0"/>
              <a:t>mtime</a:t>
            </a:r>
            <a:r>
              <a:rPr lang="en-IN" sz="1400" dirty="0" smtClean="0"/>
              <a:t>, and </a:t>
            </a:r>
            <a:r>
              <a:rPr lang="en-IN" sz="1400" dirty="0" err="1" smtClean="0"/>
              <a:t>ctime</a:t>
            </a:r>
            <a:r>
              <a:rPr lang="en-IN" sz="1400" dirty="0" smtClean="0"/>
              <a:t> of file to the current system time.</a:t>
            </a:r>
          </a:p>
          <a:p>
            <a:r>
              <a:rPr lang="en-US" sz="1400" dirty="0"/>
              <a:t>-a:-This option changes the access time only</a:t>
            </a:r>
          </a:p>
          <a:p>
            <a:r>
              <a:rPr lang="en-US" sz="1400" dirty="0"/>
              <a:t>-m:-This option changes the modification time only.</a:t>
            </a:r>
          </a:p>
          <a:p>
            <a:r>
              <a:rPr lang="en-US" sz="1400" dirty="0"/>
              <a:t>-r:-Uses the access and modification times from the reference file.</a:t>
            </a:r>
          </a:p>
          <a:p>
            <a:endParaRPr lang="en-US" sz="2400" dirty="0"/>
          </a:p>
          <a:p>
            <a:r>
              <a:rPr lang="en-IN" sz="2400" b="1" dirty="0" smtClean="0"/>
              <a:t>Examples</a:t>
            </a:r>
          </a:p>
          <a:p>
            <a:r>
              <a:rPr lang="en-IN" dirty="0" smtClean="0"/>
              <a:t>$ touch file.txt</a:t>
            </a:r>
          </a:p>
          <a:p>
            <a:r>
              <a:rPr lang="en-IN" dirty="0" smtClean="0"/>
              <a:t>$ touch -c file.txt</a:t>
            </a:r>
          </a:p>
          <a:p>
            <a:r>
              <a:rPr lang="en-US" dirty="0" smtClean="0"/>
              <a:t>$touch </a:t>
            </a:r>
            <a:r>
              <a:rPr lang="en-US" dirty="0"/>
              <a:t>a</a:t>
            </a:r>
          </a:p>
          <a:p>
            <a:r>
              <a:rPr lang="en-US" dirty="0" smtClean="0"/>
              <a:t>$touch </a:t>
            </a:r>
            <a:r>
              <a:rPr lang="en-US" dirty="0"/>
              <a:t>b</a:t>
            </a:r>
          </a:p>
          <a:p>
            <a:r>
              <a:rPr lang="en-US" dirty="0" smtClean="0"/>
              <a:t>$stat </a:t>
            </a:r>
            <a:r>
              <a:rPr lang="en-US" dirty="0"/>
              <a:t>a</a:t>
            </a:r>
          </a:p>
          <a:p>
            <a:r>
              <a:rPr lang="en-US" dirty="0" smtClean="0"/>
              <a:t>$touch </a:t>
            </a:r>
            <a:r>
              <a:rPr lang="en-US" dirty="0"/>
              <a:t>-m a b</a:t>
            </a:r>
          </a:p>
          <a:p>
            <a:r>
              <a:rPr lang="en-US" dirty="0" smtClean="0"/>
              <a:t>$stat </a:t>
            </a:r>
            <a:r>
              <a:rPr lang="en-US" dirty="0"/>
              <a:t>a</a:t>
            </a:r>
          </a:p>
          <a:p>
            <a:r>
              <a:rPr lang="en-US" dirty="0" smtClean="0"/>
              <a:t>$touch </a:t>
            </a:r>
            <a:r>
              <a:rPr lang="en-US" dirty="0"/>
              <a:t>-r a.txt b.txt</a:t>
            </a:r>
          </a:p>
          <a:p>
            <a:r>
              <a:rPr lang="en-US" dirty="0" smtClean="0"/>
              <a:t>$touch </a:t>
            </a:r>
            <a:r>
              <a:rPr lang="en-US" dirty="0"/>
              <a:t>m.txt a.txt -m</a:t>
            </a:r>
          </a:p>
          <a:p>
            <a:r>
              <a:rPr lang="en-US" dirty="0"/>
              <a:t>#set the time of m replace a</a:t>
            </a:r>
          </a:p>
          <a:p>
            <a:endParaRPr lang="en-US" dirty="0"/>
          </a:p>
          <a:p>
            <a:r>
              <a:rPr lang="en-US" dirty="0"/>
              <a:t> touch -c -d "16 </a:t>
            </a:r>
            <a:r>
              <a:rPr lang="en-US" dirty="0" err="1"/>
              <a:t>sep</a:t>
            </a:r>
            <a:r>
              <a:rPr lang="en-US" dirty="0"/>
              <a:t>" doc2</a:t>
            </a:r>
          </a:p>
          <a:p>
            <a:r>
              <a:rPr lang="en-US" dirty="0"/>
              <a:t>#This is used to update access[-c] and modification[-d: date string] time</a:t>
            </a:r>
          </a:p>
          <a:p>
            <a:r>
              <a:rPr lang="en-US" dirty="0"/>
              <a:t>touch -d "2 hours ago" filename</a:t>
            </a:r>
          </a:p>
          <a:p>
            <a:r>
              <a:rPr lang="en-US" dirty="0"/>
              <a:t>touch test{1..10}</a:t>
            </a:r>
          </a:p>
          <a:p>
            <a:endParaRPr lang="en-IN" sz="2400" dirty="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43608" y="10886"/>
            <a:ext cx="7498080" cy="4800600"/>
          </a:xfrm>
        </p:spPr>
        <p:txBody>
          <a:bodyPr>
            <a:normAutofit fontScale="47500" lnSpcReduction="20000"/>
          </a:bodyPr>
          <a:lstStyle/>
          <a:p>
            <a:pPr marL="82296" indent="0">
              <a:buNone/>
            </a:pPr>
            <a:r>
              <a:rPr lang="en-US" b="1" u="sng" dirty="0" smtClean="0"/>
              <a:t> </a:t>
            </a:r>
            <a:r>
              <a:rPr lang="en-US" b="1" u="sng" dirty="0"/>
              <a:t>stat: </a:t>
            </a:r>
            <a:endParaRPr lang="en-US" b="1" u="sng" dirty="0" smtClean="0"/>
          </a:p>
          <a:p>
            <a:pPr marL="82296" indent="0">
              <a:buNone/>
            </a:pPr>
            <a:r>
              <a:rPr lang="en-US" dirty="0" smtClean="0"/>
              <a:t>• </a:t>
            </a:r>
            <a:r>
              <a:rPr lang="en-US" dirty="0"/>
              <a:t>stat is command which is gives information about the file and </a:t>
            </a:r>
            <a:r>
              <a:rPr lang="en-US" dirty="0" err="1"/>
              <a:t>filesystem</a:t>
            </a:r>
            <a:r>
              <a:rPr lang="en-US" dirty="0"/>
              <a:t>. • Gives information such as the size of the file, access permission and user ID and group ID. </a:t>
            </a:r>
            <a:endParaRPr lang="en-US" dirty="0" smtClean="0"/>
          </a:p>
          <a:p>
            <a:pPr marL="82296" indent="0">
              <a:buNone/>
            </a:pPr>
            <a:r>
              <a:rPr lang="en-US" dirty="0" smtClean="0"/>
              <a:t>EXAMPLE</a:t>
            </a:r>
            <a:r>
              <a:rPr lang="en-US" dirty="0"/>
              <a:t>: stat </a:t>
            </a:r>
            <a:r>
              <a:rPr lang="en-US" dirty="0" smtClean="0"/>
              <a:t>std1.txt</a:t>
            </a:r>
          </a:p>
          <a:p>
            <a:pPr marL="82296" indent="0">
              <a:buNone/>
            </a:pPr>
            <a:r>
              <a:rPr lang="en-US" b="1" u="sng" dirty="0"/>
              <a:t>alias: </a:t>
            </a:r>
            <a:endParaRPr lang="en-US" b="1" u="sng" dirty="0" smtClean="0"/>
          </a:p>
          <a:p>
            <a:pPr marL="82296" indent="0">
              <a:buNone/>
            </a:pPr>
            <a:r>
              <a:rPr lang="en-US" dirty="0" smtClean="0"/>
              <a:t>• </a:t>
            </a:r>
            <a:r>
              <a:rPr lang="en-US" dirty="0"/>
              <a:t>alias command instructs the shell to replace one String with another string while executing the commands. </a:t>
            </a:r>
            <a:endParaRPr lang="en-US" dirty="0" smtClean="0"/>
          </a:p>
          <a:p>
            <a:pPr marL="82296" indent="0">
              <a:buNone/>
            </a:pPr>
            <a:r>
              <a:rPr lang="en-US" dirty="0" smtClean="0"/>
              <a:t>EXAMPLE</a:t>
            </a:r>
            <a:r>
              <a:rPr lang="en-US" dirty="0"/>
              <a:t>: alias d = “cd Desktop” </a:t>
            </a:r>
            <a:endParaRPr lang="en-US" dirty="0" smtClean="0"/>
          </a:p>
          <a:p>
            <a:pPr marL="82296" indent="0">
              <a:buNone/>
            </a:pPr>
            <a:r>
              <a:rPr lang="en-US" dirty="0" smtClean="0"/>
              <a:t>$$alias </a:t>
            </a:r>
            <a:r>
              <a:rPr lang="en-US" dirty="0" err="1" smtClean="0"/>
              <a:t>ll</a:t>
            </a:r>
            <a:r>
              <a:rPr lang="en-US" dirty="0" smtClean="0"/>
              <a:t>=‘</a:t>
            </a:r>
            <a:r>
              <a:rPr lang="en-US" dirty="0" err="1" smtClean="0"/>
              <a:t>ls</a:t>
            </a:r>
            <a:r>
              <a:rPr lang="en-US" dirty="0" smtClean="0"/>
              <a:t> –l’</a:t>
            </a:r>
          </a:p>
          <a:p>
            <a:pPr marL="82296" indent="0">
              <a:buNone/>
            </a:pPr>
            <a:r>
              <a:rPr lang="en-US" dirty="0" smtClean="0"/>
              <a:t>$alias –p</a:t>
            </a:r>
          </a:p>
          <a:p>
            <a:pPr marL="82296" indent="0">
              <a:buNone/>
            </a:pPr>
            <a:r>
              <a:rPr lang="en-US" b="1" u="sng" dirty="0" smtClean="0"/>
              <a:t>Type:</a:t>
            </a:r>
          </a:p>
          <a:p>
            <a:pPr marL="82296" indent="0">
              <a:buNone/>
            </a:pPr>
            <a:r>
              <a:rPr lang="en-US" dirty="0"/>
              <a:t>type command is used to get type of the command means it’s return type of the provided command</a:t>
            </a:r>
            <a:r>
              <a:rPr lang="en-US" dirty="0" smtClean="0"/>
              <a:t>.</a:t>
            </a:r>
          </a:p>
          <a:p>
            <a:pPr marL="82296" indent="0">
              <a:buNone/>
            </a:pPr>
            <a:r>
              <a:rPr lang="en-IN" b="1" u="sng" dirty="0"/>
              <a:t>type </a:t>
            </a:r>
            <a:r>
              <a:rPr lang="en-IN" b="1" u="sng" dirty="0" err="1"/>
              <a:t>command_name</a:t>
            </a:r>
            <a:endParaRPr lang="en-IN" b="1" u="sng" dirty="0"/>
          </a:p>
          <a:p>
            <a:pPr marL="82296" indent="0">
              <a:buNone/>
            </a:pPr>
            <a:r>
              <a:rPr lang="en-IN" b="1" u="sng" dirty="0"/>
              <a:t>type </a:t>
            </a:r>
            <a:r>
              <a:rPr lang="en-IN" b="1" u="sng" dirty="0" err="1"/>
              <a:t>ls</a:t>
            </a:r>
            <a:endParaRPr lang="en-IN" b="1" u="sng" dirty="0"/>
          </a:p>
          <a:p>
            <a:pPr marL="82296" indent="0">
              <a:buNone/>
            </a:pPr>
            <a:r>
              <a:rPr lang="en-US" b="1" u="sng" dirty="0" smtClean="0"/>
              <a:t>Type cd</a:t>
            </a:r>
          </a:p>
          <a:p>
            <a:pPr marL="82296" indent="0">
              <a:buNone/>
            </a:pPr>
            <a:r>
              <a:rPr lang="en-US" b="1" u="sng" dirty="0" smtClean="0"/>
              <a:t>Type if</a:t>
            </a:r>
            <a:endParaRPr lang="en-IN" b="1" u="sng" dirty="0"/>
          </a:p>
        </p:txBody>
      </p:sp>
      <p:sp>
        <p:nvSpPr>
          <p:cNvPr id="4" name="Footer Placeholder 3"/>
          <p:cNvSpPr>
            <a:spLocks noGrp="1"/>
          </p:cNvSpPr>
          <p:nvPr>
            <p:ph type="ftr" sz="quarter" idx="11"/>
          </p:nvPr>
        </p:nvSpPr>
        <p:spPr>
          <a:xfrm>
            <a:off x="6244682" y="6361872"/>
            <a:ext cx="2895600" cy="476250"/>
          </a:xfrm>
        </p:spPr>
        <p:txBody>
          <a:bodyPr/>
          <a:lstStyle/>
          <a:p>
            <a:r>
              <a:rPr lang="en-US" smtClean="0"/>
              <a:t>Created By: Prof. Mital Goswami</a:t>
            </a:r>
            <a:endParaRPr lang="en-IN"/>
          </a:p>
        </p:txBody>
      </p:sp>
      <p:graphicFrame>
        <p:nvGraphicFramePr>
          <p:cNvPr id="2" name="Table 1"/>
          <p:cNvGraphicFramePr>
            <a:graphicFrameLocks noGrp="1"/>
          </p:cNvGraphicFramePr>
          <p:nvPr>
            <p:extLst>
              <p:ext uri="{D42A27DB-BD31-4B8C-83A1-F6EECF244321}">
                <p14:modId xmlns:p14="http://schemas.microsoft.com/office/powerpoint/2010/main" val="1704829774"/>
              </p:ext>
            </p:extLst>
          </p:nvPr>
        </p:nvGraphicFramePr>
        <p:xfrm>
          <a:off x="2339752" y="4365104"/>
          <a:ext cx="6347222" cy="2245014"/>
        </p:xfrm>
        <a:graphic>
          <a:graphicData uri="http://schemas.openxmlformats.org/drawingml/2006/table">
            <a:tbl>
              <a:tblPr/>
              <a:tblGrid>
                <a:gridCol w="3173611"/>
                <a:gridCol w="3173611"/>
              </a:tblGrid>
              <a:tr h="309032">
                <a:tc>
                  <a:txBody>
                    <a:bodyPr/>
                    <a:lstStyle/>
                    <a:p>
                      <a:r>
                        <a:rPr lang="en-IN" dirty="0"/>
                        <a:t>Type</a:t>
                      </a:r>
                    </a:p>
                  </a:txBody>
                  <a:tcPr anchor="ctr">
                    <a:lnL>
                      <a:noFill/>
                    </a:lnL>
                    <a:lnR>
                      <a:noFill/>
                    </a:lnR>
                    <a:lnT>
                      <a:noFill/>
                    </a:lnT>
                    <a:lnB>
                      <a:noFill/>
                    </a:lnB>
                  </a:tcPr>
                </a:tc>
                <a:tc>
                  <a:txBody>
                    <a:bodyPr/>
                    <a:lstStyle/>
                    <a:p>
                      <a:r>
                        <a:rPr lang="en-IN"/>
                        <a:t>Meaning</a:t>
                      </a:r>
                    </a:p>
                  </a:txBody>
                  <a:tcPr anchor="ctr">
                    <a:lnL>
                      <a:noFill/>
                    </a:lnL>
                    <a:lnR>
                      <a:noFill/>
                    </a:lnR>
                    <a:lnT>
                      <a:noFill/>
                    </a:lnT>
                    <a:lnB>
                      <a:noFill/>
                    </a:lnB>
                  </a:tcPr>
                </a:tc>
              </a:tr>
              <a:tr h="309032">
                <a:tc>
                  <a:txBody>
                    <a:bodyPr/>
                    <a:lstStyle/>
                    <a:p>
                      <a:r>
                        <a:rPr lang="en-IN" b="1" dirty="0"/>
                        <a:t>alias</a:t>
                      </a:r>
                      <a:endParaRPr lang="en-IN" dirty="0"/>
                    </a:p>
                  </a:txBody>
                  <a:tcPr anchor="ctr">
                    <a:lnL>
                      <a:noFill/>
                    </a:lnL>
                    <a:lnR>
                      <a:noFill/>
                    </a:lnR>
                    <a:lnT>
                      <a:noFill/>
                    </a:lnT>
                    <a:lnB>
                      <a:noFill/>
                    </a:lnB>
                  </a:tcPr>
                </a:tc>
                <a:tc>
                  <a:txBody>
                    <a:bodyPr/>
                    <a:lstStyle/>
                    <a:p>
                      <a:r>
                        <a:rPr lang="en-IN"/>
                        <a:t>A shortcut command</a:t>
                      </a:r>
                    </a:p>
                  </a:txBody>
                  <a:tcPr anchor="ctr">
                    <a:lnL>
                      <a:noFill/>
                    </a:lnL>
                    <a:lnR>
                      <a:noFill/>
                    </a:lnR>
                    <a:lnT>
                      <a:noFill/>
                    </a:lnT>
                    <a:lnB>
                      <a:noFill/>
                    </a:lnB>
                  </a:tcPr>
                </a:tc>
              </a:tr>
              <a:tr h="416214">
                <a:tc>
                  <a:txBody>
                    <a:bodyPr/>
                    <a:lstStyle/>
                    <a:p>
                      <a:r>
                        <a:rPr lang="en-IN" b="1" dirty="0" err="1"/>
                        <a:t>builtin</a:t>
                      </a:r>
                      <a:endParaRPr lang="en-IN" dirty="0"/>
                    </a:p>
                  </a:txBody>
                  <a:tcPr anchor="ctr">
                    <a:lnL>
                      <a:noFill/>
                    </a:lnL>
                    <a:lnR>
                      <a:noFill/>
                    </a:lnR>
                    <a:lnT>
                      <a:noFill/>
                    </a:lnT>
                    <a:lnB>
                      <a:noFill/>
                    </a:lnB>
                  </a:tcPr>
                </a:tc>
                <a:tc>
                  <a:txBody>
                    <a:bodyPr/>
                    <a:lstStyle/>
                    <a:p>
                      <a:r>
                        <a:rPr lang="en-IN"/>
                        <a:t>Built into the shell</a:t>
                      </a:r>
                    </a:p>
                  </a:txBody>
                  <a:tcPr anchor="ctr">
                    <a:lnL>
                      <a:noFill/>
                    </a:lnL>
                    <a:lnR>
                      <a:noFill/>
                    </a:lnR>
                    <a:lnT>
                      <a:noFill/>
                    </a:lnT>
                    <a:lnB>
                      <a:noFill/>
                    </a:lnB>
                  </a:tcPr>
                </a:tc>
              </a:tr>
              <a:tr h="309032">
                <a:tc>
                  <a:txBody>
                    <a:bodyPr/>
                    <a:lstStyle/>
                    <a:p>
                      <a:r>
                        <a:rPr lang="en-IN" b="1" dirty="0"/>
                        <a:t>file</a:t>
                      </a:r>
                      <a:endParaRPr lang="en-IN" dirty="0"/>
                    </a:p>
                  </a:txBody>
                  <a:tcPr anchor="ctr">
                    <a:lnL>
                      <a:noFill/>
                    </a:lnL>
                    <a:lnR>
                      <a:noFill/>
                    </a:lnR>
                    <a:lnT>
                      <a:noFill/>
                    </a:lnT>
                    <a:lnB>
                      <a:noFill/>
                    </a:lnB>
                  </a:tcPr>
                </a:tc>
                <a:tc>
                  <a:txBody>
                    <a:bodyPr/>
                    <a:lstStyle/>
                    <a:p>
                      <a:r>
                        <a:rPr lang="en-IN"/>
                        <a:t>External executable</a:t>
                      </a:r>
                    </a:p>
                  </a:txBody>
                  <a:tcPr anchor="ctr">
                    <a:lnL>
                      <a:noFill/>
                    </a:lnL>
                    <a:lnR>
                      <a:noFill/>
                    </a:lnR>
                    <a:lnT>
                      <a:noFill/>
                    </a:lnT>
                    <a:lnB>
                      <a:noFill/>
                    </a:lnB>
                  </a:tcPr>
                </a:tc>
              </a:tr>
              <a:tr h="309032">
                <a:tc>
                  <a:txBody>
                    <a:bodyPr/>
                    <a:lstStyle/>
                    <a:p>
                      <a:r>
                        <a:rPr lang="en-IN" b="1"/>
                        <a:t>function</a:t>
                      </a:r>
                      <a:endParaRPr lang="en-IN"/>
                    </a:p>
                  </a:txBody>
                  <a:tcPr anchor="ctr">
                    <a:lnL>
                      <a:noFill/>
                    </a:lnL>
                    <a:lnR>
                      <a:noFill/>
                    </a:lnR>
                    <a:lnT>
                      <a:noFill/>
                    </a:lnT>
                    <a:lnB>
                      <a:noFill/>
                    </a:lnB>
                  </a:tcPr>
                </a:tc>
                <a:tc>
                  <a:txBody>
                    <a:bodyPr/>
                    <a:lstStyle/>
                    <a:p>
                      <a:r>
                        <a:rPr lang="en-IN" dirty="0"/>
                        <a:t>Shell function</a:t>
                      </a:r>
                    </a:p>
                  </a:txBody>
                  <a:tcPr anchor="ctr">
                    <a:lnL>
                      <a:noFill/>
                    </a:lnL>
                    <a:lnR>
                      <a:noFill/>
                    </a:lnR>
                    <a:lnT>
                      <a:noFill/>
                    </a:lnT>
                    <a:lnB>
                      <a:noFill/>
                    </a:lnB>
                  </a:tcPr>
                </a:tc>
              </a:tr>
              <a:tr h="309032">
                <a:tc>
                  <a:txBody>
                    <a:bodyPr/>
                    <a:lstStyle/>
                    <a:p>
                      <a:r>
                        <a:rPr lang="en-IN" b="1"/>
                        <a:t>keyword</a:t>
                      </a:r>
                      <a:endParaRPr lang="en-IN"/>
                    </a:p>
                  </a:txBody>
                  <a:tcPr anchor="ctr">
                    <a:lnL>
                      <a:noFill/>
                    </a:lnL>
                    <a:lnR>
                      <a:noFill/>
                    </a:lnR>
                    <a:lnT>
                      <a:noFill/>
                    </a:lnT>
                    <a:lnB>
                      <a:noFill/>
                    </a:lnB>
                  </a:tcPr>
                </a:tc>
                <a:tc>
                  <a:txBody>
                    <a:bodyPr/>
                    <a:lstStyle/>
                    <a:p>
                      <a:r>
                        <a:rPr lang="en-IN" dirty="0"/>
                        <a:t>Shell reserved word</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42260461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27384"/>
            <a:ext cx="7488832" cy="812303"/>
          </a:xfrm>
        </p:spPr>
        <p:txBody>
          <a:bodyPr/>
          <a:lstStyle/>
          <a:p>
            <a:r>
              <a:rPr lang="en-IN" dirty="0" smtClean="0"/>
              <a:t>Redirection &amp; Piping</a:t>
            </a:r>
            <a:endParaRPr lang="en-IN" dirty="0"/>
          </a:p>
        </p:txBody>
      </p:sp>
      <p:sp>
        <p:nvSpPr>
          <p:cNvPr id="5" name="TextBox 4"/>
          <p:cNvSpPr txBox="1"/>
          <p:nvPr/>
        </p:nvSpPr>
        <p:spPr>
          <a:xfrm>
            <a:off x="1331640" y="874449"/>
            <a:ext cx="7344816" cy="6001643"/>
          </a:xfrm>
          <a:prstGeom prst="rect">
            <a:avLst/>
          </a:prstGeom>
          <a:noFill/>
        </p:spPr>
        <p:txBody>
          <a:bodyPr wrap="square" rtlCol="0">
            <a:spAutoFit/>
          </a:bodyPr>
          <a:lstStyle/>
          <a:p>
            <a:r>
              <a:rPr lang="en-IN" sz="2400" dirty="0" smtClean="0"/>
              <a:t>Redirection is a feature in Linux such that when executing a command, you can change the standard input/output devices. The basic workflow of any Linux command is that it takes an input and give an output. </a:t>
            </a:r>
          </a:p>
          <a:p>
            <a:endParaRPr lang="en-IN" sz="2400" dirty="0" smtClean="0"/>
          </a:p>
          <a:p>
            <a:r>
              <a:rPr lang="en-IN" sz="2400" dirty="0" smtClean="0"/>
              <a:t>The standard input (</a:t>
            </a:r>
            <a:r>
              <a:rPr lang="en-IN" sz="2400" dirty="0" err="1" smtClean="0"/>
              <a:t>stdin</a:t>
            </a:r>
            <a:r>
              <a:rPr lang="en-IN" sz="2400" dirty="0" smtClean="0"/>
              <a:t>) device is the keyboard.</a:t>
            </a:r>
          </a:p>
          <a:p>
            <a:r>
              <a:rPr lang="en-IN" sz="2400" dirty="0" smtClean="0"/>
              <a:t>The standard output (</a:t>
            </a:r>
            <a:r>
              <a:rPr lang="en-IN" sz="2400" dirty="0" err="1" smtClean="0"/>
              <a:t>stdout</a:t>
            </a:r>
            <a:r>
              <a:rPr lang="en-IN" sz="2400" dirty="0" smtClean="0"/>
              <a:t>) device is the screen.</a:t>
            </a:r>
          </a:p>
          <a:p>
            <a:endParaRPr lang="en-IN" sz="2400" dirty="0" smtClean="0"/>
          </a:p>
          <a:p>
            <a:r>
              <a:rPr lang="en-IN" sz="2400" b="1" dirty="0" smtClean="0"/>
              <a:t>Output Redirection</a:t>
            </a:r>
          </a:p>
          <a:p>
            <a:r>
              <a:rPr lang="en-IN" sz="2400" dirty="0" smtClean="0"/>
              <a:t>The </a:t>
            </a:r>
            <a:r>
              <a:rPr lang="en-IN" sz="2400" b="1" dirty="0" smtClean="0"/>
              <a:t>'&gt;</a:t>
            </a:r>
            <a:r>
              <a:rPr lang="en-IN" sz="2400" dirty="0" smtClean="0"/>
              <a:t>' symbol is used for output (STDOUT) redirection. </a:t>
            </a:r>
          </a:p>
          <a:p>
            <a:endParaRPr lang="en-IN" sz="2400" dirty="0" smtClean="0"/>
          </a:p>
          <a:p>
            <a:r>
              <a:rPr lang="en-IN" sz="2400" dirty="0" smtClean="0"/>
              <a:t>Example: </a:t>
            </a:r>
          </a:p>
          <a:p>
            <a:r>
              <a:rPr lang="en-IN" sz="2400" dirty="0" err="1" smtClean="0"/>
              <a:t>ls</a:t>
            </a:r>
            <a:r>
              <a:rPr lang="en-IN" sz="2400" dirty="0" smtClean="0"/>
              <a:t> -l &gt; listings</a:t>
            </a:r>
          </a:p>
          <a:p>
            <a:endParaRPr lang="en-IN" sz="2400" dirty="0" smtClean="0"/>
          </a:p>
          <a:p>
            <a:r>
              <a:rPr lang="en-IN" sz="2400" dirty="0" smtClean="0"/>
              <a:t>Here the output of command </a:t>
            </a:r>
            <a:r>
              <a:rPr lang="en-IN" sz="2400" dirty="0" err="1" smtClean="0"/>
              <a:t>ls</a:t>
            </a:r>
            <a:r>
              <a:rPr lang="en-IN" sz="2400" dirty="0" smtClean="0"/>
              <a:t> -l is re-directed to file "listings" instead of your screen. </a:t>
            </a:r>
            <a:endParaRPr lang="en-IN" sz="2400" dirty="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27384"/>
            <a:ext cx="7488832" cy="812303"/>
          </a:xfrm>
        </p:spPr>
        <p:txBody>
          <a:bodyPr/>
          <a:lstStyle/>
          <a:p>
            <a:r>
              <a:rPr lang="en-IN" dirty="0" smtClean="0"/>
              <a:t>Redirection &amp; Piping</a:t>
            </a:r>
            <a:endParaRPr lang="en-IN" dirty="0"/>
          </a:p>
        </p:txBody>
      </p:sp>
      <p:sp>
        <p:nvSpPr>
          <p:cNvPr id="5" name="TextBox 4"/>
          <p:cNvSpPr txBox="1"/>
          <p:nvPr/>
        </p:nvSpPr>
        <p:spPr>
          <a:xfrm>
            <a:off x="1331640" y="874449"/>
            <a:ext cx="7344816" cy="5632311"/>
          </a:xfrm>
          <a:prstGeom prst="rect">
            <a:avLst/>
          </a:prstGeom>
          <a:noFill/>
        </p:spPr>
        <p:txBody>
          <a:bodyPr wrap="square" rtlCol="0">
            <a:spAutoFit/>
          </a:bodyPr>
          <a:lstStyle/>
          <a:p>
            <a:r>
              <a:rPr lang="en-IN" sz="2400" dirty="0" smtClean="0"/>
              <a:t>&gt;&gt; : Does the same as &gt;, except that if the target file exists, the new data are appended.</a:t>
            </a:r>
          </a:p>
          <a:p>
            <a:endParaRPr lang="en-IN" sz="2400" dirty="0" smtClean="0"/>
          </a:p>
          <a:p>
            <a:r>
              <a:rPr lang="en-IN" sz="2400" dirty="0" smtClean="0"/>
              <a:t>command &gt;&gt; out.txt </a:t>
            </a:r>
          </a:p>
          <a:p>
            <a:endParaRPr lang="en-IN" sz="2400" dirty="0" smtClean="0"/>
          </a:p>
          <a:p>
            <a:r>
              <a:rPr lang="en-IN" sz="2400" dirty="0" smtClean="0"/>
              <a:t>If out.txt exists, the output of command will be appended to it, after whatever is already in it. If it does not exist it will be created. </a:t>
            </a:r>
          </a:p>
          <a:p>
            <a:endParaRPr lang="en-IN" sz="2400" b="1" dirty="0" smtClean="0"/>
          </a:p>
          <a:p>
            <a:endParaRPr lang="en-IN" sz="2400" b="1" dirty="0" smtClean="0"/>
          </a:p>
          <a:p>
            <a:r>
              <a:rPr lang="en-IN" sz="2400" b="1" dirty="0" smtClean="0"/>
              <a:t>Input redirection</a:t>
            </a:r>
          </a:p>
          <a:p>
            <a:r>
              <a:rPr lang="en-IN" sz="2400" dirty="0" smtClean="0"/>
              <a:t>The </a:t>
            </a:r>
            <a:r>
              <a:rPr lang="en-IN" sz="2400" b="1" dirty="0" smtClean="0"/>
              <a:t>'&lt;</a:t>
            </a:r>
            <a:r>
              <a:rPr lang="en-IN" sz="2400" dirty="0" smtClean="0"/>
              <a:t>' symbol is used for input(STDIN) redirection.</a:t>
            </a:r>
          </a:p>
          <a:p>
            <a:endParaRPr lang="en-IN" sz="2400" dirty="0" smtClean="0"/>
          </a:p>
          <a:p>
            <a:r>
              <a:rPr lang="en-IN" sz="2400" dirty="0" smtClean="0"/>
              <a:t>Example: The mail program in Linux can help you send emails from the Terminal. </a:t>
            </a:r>
            <a:endParaRPr lang="en-IN" sz="2400" dirty="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27384"/>
            <a:ext cx="7488832" cy="812303"/>
          </a:xfrm>
        </p:spPr>
        <p:txBody>
          <a:bodyPr/>
          <a:lstStyle/>
          <a:p>
            <a:r>
              <a:rPr lang="en-IN" dirty="0" smtClean="0"/>
              <a:t>Redirection &amp; Piping</a:t>
            </a:r>
            <a:endParaRPr lang="en-IN" dirty="0"/>
          </a:p>
        </p:txBody>
      </p:sp>
      <p:sp>
        <p:nvSpPr>
          <p:cNvPr id="5" name="TextBox 4"/>
          <p:cNvSpPr txBox="1"/>
          <p:nvPr/>
        </p:nvSpPr>
        <p:spPr>
          <a:xfrm>
            <a:off x="1331640" y="874449"/>
            <a:ext cx="7344816" cy="5262979"/>
          </a:xfrm>
          <a:prstGeom prst="rect">
            <a:avLst/>
          </a:prstGeom>
          <a:noFill/>
        </p:spPr>
        <p:txBody>
          <a:bodyPr wrap="square" rtlCol="0">
            <a:spAutoFit/>
          </a:bodyPr>
          <a:lstStyle/>
          <a:p>
            <a:r>
              <a:rPr lang="en-IN" sz="2400" dirty="0" smtClean="0"/>
              <a:t>You can type the contents of the email using the standard device keyboard. But if you want to attach a File to email you can use the input re-direction operator in the following format. </a:t>
            </a:r>
          </a:p>
          <a:p>
            <a:endParaRPr lang="en-IN" sz="2400" dirty="0" smtClean="0"/>
          </a:p>
          <a:p>
            <a:r>
              <a:rPr lang="en-IN" sz="2400" dirty="0" smtClean="0"/>
              <a:t>Mail -s "Subject" to-address &lt; Filename</a:t>
            </a:r>
          </a:p>
          <a:p>
            <a:endParaRPr lang="en-IN" sz="2400" dirty="0" smtClean="0"/>
          </a:p>
          <a:p>
            <a:r>
              <a:rPr lang="en-IN" sz="2400" dirty="0" smtClean="0"/>
              <a:t>&lt;&lt; : A here document. It is often used to print multi-line strings.</a:t>
            </a:r>
          </a:p>
          <a:p>
            <a:endParaRPr lang="en-IN" sz="2400" dirty="0" smtClean="0"/>
          </a:p>
          <a:p>
            <a:r>
              <a:rPr lang="en-IN" sz="2400" dirty="0" smtClean="0"/>
              <a:t>command &lt;&lt; WORD Text WORD Here, command will take everything until it finds the next occurrence of WORD, Text in the example above, as input .</a:t>
            </a:r>
          </a:p>
          <a:p>
            <a:endParaRPr lang="en-IN" sz="2400" dirty="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27384"/>
            <a:ext cx="7488832" cy="812303"/>
          </a:xfrm>
        </p:spPr>
        <p:txBody>
          <a:bodyPr/>
          <a:lstStyle/>
          <a:p>
            <a:r>
              <a:rPr lang="en-IN" dirty="0" smtClean="0"/>
              <a:t>Redirection &amp; Piping</a:t>
            </a:r>
            <a:endParaRPr lang="en-IN" dirty="0"/>
          </a:p>
        </p:txBody>
      </p:sp>
      <p:sp>
        <p:nvSpPr>
          <p:cNvPr id="5" name="TextBox 4"/>
          <p:cNvSpPr txBox="1"/>
          <p:nvPr/>
        </p:nvSpPr>
        <p:spPr>
          <a:xfrm>
            <a:off x="1331640" y="874449"/>
            <a:ext cx="7344816" cy="3785652"/>
          </a:xfrm>
          <a:prstGeom prst="rect">
            <a:avLst/>
          </a:prstGeom>
          <a:noFill/>
        </p:spPr>
        <p:txBody>
          <a:bodyPr wrap="square" rtlCol="0">
            <a:spAutoFit/>
          </a:bodyPr>
          <a:lstStyle/>
          <a:p>
            <a:r>
              <a:rPr lang="en-IN" sz="2400" b="1" dirty="0" smtClean="0"/>
              <a:t>Pipe operator</a:t>
            </a:r>
          </a:p>
          <a:p>
            <a:r>
              <a:rPr lang="en-IN" sz="2400" dirty="0" smtClean="0"/>
              <a:t>|  </a:t>
            </a:r>
          </a:p>
          <a:p>
            <a:r>
              <a:rPr lang="en-IN" sz="2400" dirty="0" smtClean="0"/>
              <a:t>The pipe operator, it passes the output of one command as input to another. A command built from the pipe operator is called a pipeline.</a:t>
            </a:r>
          </a:p>
          <a:p>
            <a:endParaRPr lang="en-IN" sz="2400" dirty="0" smtClean="0"/>
          </a:p>
          <a:p>
            <a:r>
              <a:rPr lang="en-IN" sz="2400" dirty="0" smtClean="0"/>
              <a:t>command1 | command2</a:t>
            </a:r>
          </a:p>
          <a:p>
            <a:endParaRPr lang="en-IN" sz="2400" dirty="0" smtClean="0"/>
          </a:p>
          <a:p>
            <a:r>
              <a:rPr lang="en-IN" sz="2400" dirty="0" smtClean="0"/>
              <a:t>Any output printed by command1 is passed as input to command2. </a:t>
            </a:r>
            <a:endParaRPr lang="en-IN" sz="2400" dirty="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27384"/>
            <a:ext cx="7488832" cy="812303"/>
          </a:xfrm>
        </p:spPr>
        <p:txBody>
          <a:bodyPr/>
          <a:lstStyle/>
          <a:p>
            <a:r>
              <a:rPr lang="en-IN" dirty="0" smtClean="0"/>
              <a:t>Finding Pattern in Files</a:t>
            </a:r>
            <a:endParaRPr lang="en-IN" dirty="0"/>
          </a:p>
        </p:txBody>
      </p:sp>
      <p:sp>
        <p:nvSpPr>
          <p:cNvPr id="5" name="TextBox 4"/>
          <p:cNvSpPr txBox="1"/>
          <p:nvPr/>
        </p:nvSpPr>
        <p:spPr>
          <a:xfrm>
            <a:off x="1331640" y="874449"/>
            <a:ext cx="7344816" cy="5878532"/>
          </a:xfrm>
          <a:prstGeom prst="rect">
            <a:avLst/>
          </a:prstGeom>
          <a:noFill/>
        </p:spPr>
        <p:txBody>
          <a:bodyPr wrap="square" rtlCol="0">
            <a:spAutoFit/>
          </a:bodyPr>
          <a:lstStyle/>
          <a:p>
            <a:r>
              <a:rPr lang="en-IN" sz="2400" b="1" dirty="0" err="1" smtClean="0"/>
              <a:t>grep</a:t>
            </a:r>
            <a:r>
              <a:rPr lang="en-IN" sz="2400" b="1" dirty="0" smtClean="0"/>
              <a:t>,  </a:t>
            </a:r>
            <a:r>
              <a:rPr lang="en-IN" sz="2400" b="1" dirty="0" err="1" smtClean="0"/>
              <a:t>fgrep</a:t>
            </a:r>
            <a:r>
              <a:rPr lang="en-IN" sz="2400" b="1" dirty="0" smtClean="0"/>
              <a:t>,  </a:t>
            </a:r>
            <a:r>
              <a:rPr lang="en-IN" sz="2400" b="1" dirty="0" err="1" smtClean="0"/>
              <a:t>egrep</a:t>
            </a:r>
            <a:endParaRPr lang="en-IN" sz="2400" b="1" dirty="0" smtClean="0"/>
          </a:p>
          <a:p>
            <a:endParaRPr lang="en-IN" sz="2400" b="1" dirty="0" smtClean="0"/>
          </a:p>
          <a:p>
            <a:r>
              <a:rPr lang="en-IN" sz="2400" b="1" dirty="0" err="1" smtClean="0"/>
              <a:t>grep</a:t>
            </a:r>
            <a:r>
              <a:rPr lang="en-IN" sz="2400" b="1" dirty="0" smtClean="0"/>
              <a:t> </a:t>
            </a:r>
            <a:r>
              <a:rPr lang="en-IN" sz="2400" dirty="0" smtClean="0"/>
              <a:t>(globally search a regular expression and print)</a:t>
            </a:r>
            <a:endParaRPr lang="en-IN" sz="2400" b="1" dirty="0" smtClean="0"/>
          </a:p>
          <a:p>
            <a:r>
              <a:rPr lang="en-IN" sz="2400" dirty="0" smtClean="0"/>
              <a:t>This command can be used to search a pattern in one or more files directly from the command line. </a:t>
            </a:r>
          </a:p>
          <a:p>
            <a:endParaRPr lang="en-IN" sz="2400" dirty="0" smtClean="0"/>
          </a:p>
          <a:p>
            <a:r>
              <a:rPr lang="en-IN" sz="2000" b="1" dirty="0" smtClean="0"/>
              <a:t>SYNTAX</a:t>
            </a:r>
          </a:p>
          <a:p>
            <a:r>
              <a:rPr lang="en-IN" sz="2400" dirty="0" err="1" smtClean="0"/>
              <a:t>grep</a:t>
            </a:r>
            <a:r>
              <a:rPr lang="en-IN" sz="2400" dirty="0" smtClean="0"/>
              <a:t> [OPTIONS] PATTERN [FILE...]</a:t>
            </a:r>
          </a:p>
          <a:p>
            <a:endParaRPr lang="en-IN" sz="2400" dirty="0" smtClean="0"/>
          </a:p>
          <a:p>
            <a:r>
              <a:rPr lang="en-IN" sz="2000" b="1" dirty="0" smtClean="0"/>
              <a:t>EXAMPLE</a:t>
            </a:r>
          </a:p>
          <a:p>
            <a:r>
              <a:rPr lang="en-IN" sz="2400" dirty="0" smtClean="0"/>
              <a:t>$ </a:t>
            </a:r>
            <a:r>
              <a:rPr lang="en-IN" sz="2400" dirty="0" err="1" smtClean="0"/>
              <a:t>grep</a:t>
            </a:r>
            <a:r>
              <a:rPr lang="en-IN" sz="2400" dirty="0" smtClean="0"/>
              <a:t> "Linux" input.txt </a:t>
            </a:r>
          </a:p>
          <a:p>
            <a:r>
              <a:rPr lang="en-IN" sz="2400" dirty="0" smtClean="0"/>
              <a:t>Welcome to Linux. </a:t>
            </a:r>
          </a:p>
          <a:p>
            <a:endParaRPr lang="en-IN" sz="2400" dirty="0" smtClean="0"/>
          </a:p>
          <a:p>
            <a:r>
              <a:rPr lang="en-IN" sz="2400" dirty="0" smtClean="0"/>
              <a:t>In the output above, the line in the file input.txt containing the pattern or string "Linux" was displayed as output. </a:t>
            </a:r>
            <a:endParaRPr lang="en-IN" sz="2400" dirty="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27384"/>
            <a:ext cx="7488832" cy="812303"/>
          </a:xfrm>
        </p:spPr>
        <p:txBody>
          <a:bodyPr/>
          <a:lstStyle/>
          <a:p>
            <a:r>
              <a:rPr lang="en-IN" dirty="0" smtClean="0"/>
              <a:t>Finding Pattern in Files</a:t>
            </a:r>
            <a:endParaRPr lang="en-IN" dirty="0"/>
          </a:p>
        </p:txBody>
      </p:sp>
      <p:sp>
        <p:nvSpPr>
          <p:cNvPr id="5" name="TextBox 4"/>
          <p:cNvSpPr txBox="1"/>
          <p:nvPr/>
        </p:nvSpPr>
        <p:spPr>
          <a:xfrm>
            <a:off x="1331640" y="692696"/>
            <a:ext cx="7344816" cy="6001643"/>
          </a:xfrm>
          <a:prstGeom prst="rect">
            <a:avLst/>
          </a:prstGeom>
          <a:noFill/>
        </p:spPr>
        <p:txBody>
          <a:bodyPr wrap="square" rtlCol="0">
            <a:spAutoFit/>
          </a:bodyPr>
          <a:lstStyle/>
          <a:p>
            <a:r>
              <a:rPr lang="en-IN" sz="2400" dirty="0" smtClean="0"/>
              <a:t>The pattern matching done by </a:t>
            </a:r>
            <a:r>
              <a:rPr lang="en-IN" sz="2400" dirty="0" err="1" smtClean="0"/>
              <a:t>grep</a:t>
            </a:r>
            <a:r>
              <a:rPr lang="en-IN" sz="2400" dirty="0" smtClean="0"/>
              <a:t> command is case sensitive. For example, if the argument to </a:t>
            </a:r>
            <a:r>
              <a:rPr lang="en-IN" sz="2400" dirty="0" err="1" smtClean="0"/>
              <a:t>grep</a:t>
            </a:r>
            <a:r>
              <a:rPr lang="en-IN" sz="2400" dirty="0" smtClean="0"/>
              <a:t> command is "LINUX" (instead of "Linux") then </a:t>
            </a:r>
            <a:r>
              <a:rPr lang="en-IN" sz="2400" dirty="0" err="1" smtClean="0"/>
              <a:t>grep</a:t>
            </a:r>
            <a:r>
              <a:rPr lang="en-IN" sz="2400" dirty="0" smtClean="0"/>
              <a:t> will not match the lines containing string "Linux". </a:t>
            </a:r>
            <a:br>
              <a:rPr lang="en-IN" sz="2400" dirty="0" smtClean="0"/>
            </a:br>
            <a:endParaRPr lang="en-IN" sz="2400" dirty="0" smtClean="0"/>
          </a:p>
          <a:p>
            <a:r>
              <a:rPr lang="en-IN" sz="2400" dirty="0" smtClean="0"/>
              <a:t>$ </a:t>
            </a:r>
            <a:r>
              <a:rPr lang="en-IN" sz="2400" dirty="0" err="1" smtClean="0"/>
              <a:t>grep</a:t>
            </a:r>
            <a:r>
              <a:rPr lang="en-IN" sz="2400" dirty="0" smtClean="0"/>
              <a:t> "LINUX" input.txt </a:t>
            </a:r>
          </a:p>
          <a:p>
            <a:r>
              <a:rPr lang="en-IN" sz="2400" dirty="0" smtClean="0"/>
              <a:t>$ </a:t>
            </a:r>
          </a:p>
          <a:p>
            <a:endParaRPr lang="en-IN" sz="2400" dirty="0" smtClean="0"/>
          </a:p>
          <a:p>
            <a:r>
              <a:rPr lang="en-IN" sz="2400" dirty="0" smtClean="0"/>
              <a:t>If it is desired that </a:t>
            </a:r>
            <a:r>
              <a:rPr lang="en-IN" sz="2400" dirty="0" err="1" smtClean="0"/>
              <a:t>grep</a:t>
            </a:r>
            <a:r>
              <a:rPr lang="en-IN" sz="2400" dirty="0" smtClean="0"/>
              <a:t> command should ignore the case sensitiveness then the option -</a:t>
            </a:r>
            <a:r>
              <a:rPr lang="en-IN" sz="2400" dirty="0" err="1" smtClean="0"/>
              <a:t>i</a:t>
            </a:r>
            <a:r>
              <a:rPr lang="en-IN" sz="2400" dirty="0" smtClean="0"/>
              <a:t> can be used. </a:t>
            </a:r>
          </a:p>
          <a:p>
            <a:endParaRPr lang="en-IN" sz="2400" dirty="0" smtClean="0"/>
          </a:p>
          <a:p>
            <a:r>
              <a:rPr lang="en-IN" sz="2400" dirty="0" smtClean="0"/>
              <a:t>$ </a:t>
            </a:r>
            <a:r>
              <a:rPr lang="en-IN" sz="2400" dirty="0" err="1" smtClean="0"/>
              <a:t>grep</a:t>
            </a:r>
            <a:r>
              <a:rPr lang="en-IN" sz="2400" dirty="0" smtClean="0"/>
              <a:t> -</a:t>
            </a:r>
            <a:r>
              <a:rPr lang="en-IN" sz="2400" dirty="0" err="1" smtClean="0"/>
              <a:t>i</a:t>
            </a:r>
            <a:r>
              <a:rPr lang="en-IN" sz="2400" dirty="0" smtClean="0"/>
              <a:t> "LINUX" input.txt </a:t>
            </a:r>
          </a:p>
          <a:p>
            <a:r>
              <a:rPr lang="en-IN" sz="2400" dirty="0" smtClean="0"/>
              <a:t>Welcome to Linux.</a:t>
            </a:r>
          </a:p>
          <a:p>
            <a:endParaRPr lang="en-IN" sz="2400" dirty="0" smtClean="0"/>
          </a:p>
          <a:p>
            <a:r>
              <a:rPr lang="en-IN" sz="2400" dirty="0" smtClean="0"/>
              <a:t>So we see that this time the string "LINUX" matched with the line containing the string "Linux". </a:t>
            </a:r>
            <a:endParaRPr lang="en-IN" sz="2400" dirty="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27384"/>
            <a:ext cx="7488832" cy="812303"/>
          </a:xfrm>
        </p:spPr>
        <p:txBody>
          <a:bodyPr/>
          <a:lstStyle/>
          <a:p>
            <a:r>
              <a:rPr lang="en-IN" dirty="0" smtClean="0"/>
              <a:t>Finding Pattern in Files</a:t>
            </a:r>
            <a:endParaRPr lang="en-IN" dirty="0"/>
          </a:p>
        </p:txBody>
      </p:sp>
      <p:sp>
        <p:nvSpPr>
          <p:cNvPr id="5" name="TextBox 4"/>
          <p:cNvSpPr txBox="1"/>
          <p:nvPr/>
        </p:nvSpPr>
        <p:spPr>
          <a:xfrm>
            <a:off x="1331640" y="692696"/>
            <a:ext cx="7344816" cy="5632311"/>
          </a:xfrm>
          <a:prstGeom prst="rect">
            <a:avLst/>
          </a:prstGeom>
          <a:noFill/>
        </p:spPr>
        <p:txBody>
          <a:bodyPr wrap="square" rtlCol="0">
            <a:spAutoFit/>
          </a:bodyPr>
          <a:lstStyle/>
          <a:p>
            <a:r>
              <a:rPr lang="en-IN" sz="2400" dirty="0" smtClean="0"/>
              <a:t>If more than one file is supplied in argument list then </a:t>
            </a:r>
            <a:r>
              <a:rPr lang="en-IN" sz="2400" dirty="0" err="1" smtClean="0"/>
              <a:t>grep</a:t>
            </a:r>
            <a:r>
              <a:rPr lang="en-IN" sz="2400" dirty="0" smtClean="0"/>
              <a:t> searches for the pattern or string in all the files. </a:t>
            </a:r>
            <a:br>
              <a:rPr lang="en-IN" sz="2400" dirty="0" smtClean="0"/>
            </a:br>
            <a:r>
              <a:rPr lang="en-IN" sz="2400" dirty="0" smtClean="0"/>
              <a:t/>
            </a:r>
            <a:br>
              <a:rPr lang="en-IN" sz="2400" dirty="0" smtClean="0"/>
            </a:br>
            <a:r>
              <a:rPr lang="en-IN" sz="2400" dirty="0" smtClean="0"/>
              <a:t>For example : </a:t>
            </a:r>
          </a:p>
          <a:p>
            <a:r>
              <a:rPr lang="en-IN" sz="2400" dirty="0" smtClean="0"/>
              <a:t>$ </a:t>
            </a:r>
            <a:r>
              <a:rPr lang="en-IN" sz="2400" dirty="0" err="1" smtClean="0"/>
              <a:t>grep</a:t>
            </a:r>
            <a:r>
              <a:rPr lang="en-IN" sz="2400" dirty="0" smtClean="0"/>
              <a:t> "Linux" input.txt output.txt </a:t>
            </a:r>
          </a:p>
          <a:p>
            <a:endParaRPr lang="en-IN" sz="2400" dirty="0" smtClean="0"/>
          </a:p>
          <a:p>
            <a:r>
              <a:rPr lang="en-IN" sz="2400" dirty="0" err="1" smtClean="0"/>
              <a:t>input.txt:Welcome</a:t>
            </a:r>
            <a:r>
              <a:rPr lang="en-IN" sz="2400" dirty="0" smtClean="0"/>
              <a:t> to Linux. </a:t>
            </a:r>
          </a:p>
          <a:p>
            <a:r>
              <a:rPr lang="en-IN" sz="2400" dirty="0" err="1" smtClean="0"/>
              <a:t>output.txt:I</a:t>
            </a:r>
            <a:r>
              <a:rPr lang="en-IN" sz="2400" dirty="0" smtClean="0"/>
              <a:t> hope you enjoyed working on Linux.</a:t>
            </a:r>
          </a:p>
          <a:p>
            <a:endParaRPr lang="en-IN" sz="2400" dirty="0" smtClean="0"/>
          </a:p>
          <a:p>
            <a:r>
              <a:rPr lang="en-IN" sz="2400" dirty="0" smtClean="0"/>
              <a:t>The </a:t>
            </a:r>
            <a:r>
              <a:rPr lang="en-IN" sz="2400" dirty="0" err="1" smtClean="0"/>
              <a:t>grep</a:t>
            </a:r>
            <a:r>
              <a:rPr lang="en-IN" sz="2400" dirty="0" smtClean="0"/>
              <a:t> command also allows the usage of regular expressions in pattern matching.</a:t>
            </a:r>
          </a:p>
          <a:p>
            <a:r>
              <a:rPr lang="en-IN" sz="2400" dirty="0" smtClean="0"/>
              <a:t># </a:t>
            </a:r>
            <a:r>
              <a:rPr lang="en-IN" sz="2400" dirty="0" err="1" smtClean="0"/>
              <a:t>grep</a:t>
            </a:r>
            <a:r>
              <a:rPr lang="en-IN" sz="2400" dirty="0" smtClean="0"/>
              <a:t> -r ".*Linux" output.txt output1.txt </a:t>
            </a:r>
          </a:p>
          <a:p>
            <a:r>
              <a:rPr lang="en-IN" sz="2400" dirty="0" smtClean="0"/>
              <a:t>output.txt: I hope you enjoyed working on Linux. output1.txt:Welcome to Linux. </a:t>
            </a:r>
          </a:p>
          <a:p>
            <a:r>
              <a:rPr lang="en-IN" sz="2400" dirty="0" smtClean="0"/>
              <a:t>output1.txt:I hope you will have fun with Linux.</a:t>
            </a:r>
            <a:endParaRPr lang="en-IN" sz="2400" dirty="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27384"/>
            <a:ext cx="7488832" cy="812303"/>
          </a:xfrm>
        </p:spPr>
        <p:txBody>
          <a:bodyPr/>
          <a:lstStyle/>
          <a:p>
            <a:r>
              <a:rPr lang="en-IN" dirty="0" smtClean="0"/>
              <a:t>Finding Pattern in Files</a:t>
            </a:r>
            <a:endParaRPr lang="en-IN" dirty="0"/>
          </a:p>
        </p:txBody>
      </p:sp>
      <p:sp>
        <p:nvSpPr>
          <p:cNvPr id="5" name="TextBox 4"/>
          <p:cNvSpPr txBox="1"/>
          <p:nvPr/>
        </p:nvSpPr>
        <p:spPr>
          <a:xfrm>
            <a:off x="1331640" y="692696"/>
            <a:ext cx="7344816" cy="6001643"/>
          </a:xfrm>
          <a:prstGeom prst="rect">
            <a:avLst/>
          </a:prstGeom>
          <a:noFill/>
        </p:spPr>
        <p:txBody>
          <a:bodyPr wrap="square" rtlCol="0">
            <a:spAutoFit/>
          </a:bodyPr>
          <a:lstStyle/>
          <a:p>
            <a:r>
              <a:rPr lang="en-IN" sz="2400" b="1" dirty="0" err="1" smtClean="0"/>
              <a:t>fgrep</a:t>
            </a:r>
            <a:endParaRPr lang="en-IN" sz="2400" b="1" dirty="0" smtClean="0"/>
          </a:p>
          <a:p>
            <a:r>
              <a:rPr lang="en-IN" sz="2400" b="1" dirty="0" err="1" smtClean="0"/>
              <a:t>fgrep</a:t>
            </a:r>
            <a:r>
              <a:rPr lang="en-IN" sz="2400" dirty="0" smtClean="0"/>
              <a:t> searches for fixed-character strings in a file or files. </a:t>
            </a:r>
            <a:r>
              <a:rPr lang="en-IN" sz="2400" b="1" dirty="0" err="1" smtClean="0"/>
              <a:t>fgrep</a:t>
            </a:r>
            <a:r>
              <a:rPr lang="en-IN" sz="2400" dirty="0" smtClean="0"/>
              <a:t> is useful when you need to search for strings which contain lots of regular expression </a:t>
            </a:r>
            <a:r>
              <a:rPr lang="en-IN" sz="2400" dirty="0" err="1" smtClean="0"/>
              <a:t>metacharacters</a:t>
            </a:r>
            <a:r>
              <a:rPr lang="en-IN" sz="2400" dirty="0" smtClean="0"/>
              <a:t>, such as "</a:t>
            </a:r>
            <a:r>
              <a:rPr lang="en-IN" sz="2400" b="1" dirty="0" smtClean="0"/>
              <a:t>$</a:t>
            </a:r>
            <a:r>
              <a:rPr lang="en-IN" sz="2400" dirty="0" smtClean="0"/>
              <a:t>", "</a:t>
            </a:r>
            <a:r>
              <a:rPr lang="en-IN" sz="2400" b="1" dirty="0" smtClean="0"/>
              <a:t>^</a:t>
            </a:r>
            <a:r>
              <a:rPr lang="en-IN" sz="2400" dirty="0" smtClean="0"/>
              <a:t>", etc.</a:t>
            </a:r>
          </a:p>
          <a:p>
            <a:endParaRPr lang="en-IN" sz="2400" b="1" dirty="0" smtClean="0"/>
          </a:p>
          <a:p>
            <a:r>
              <a:rPr lang="en-US" sz="2400" b="1" dirty="0" err="1" smtClean="0"/>
              <a:t>Syntex</a:t>
            </a:r>
            <a:r>
              <a:rPr lang="en-US" sz="2400" b="1" dirty="0" smtClean="0"/>
              <a:t>:</a:t>
            </a:r>
            <a:endParaRPr lang="en-IN" sz="2400" dirty="0" smtClean="0"/>
          </a:p>
          <a:p>
            <a:r>
              <a:rPr lang="en-US" sz="2400" b="1" dirty="0" smtClean="0"/>
              <a:t> </a:t>
            </a:r>
            <a:endParaRPr lang="en-IN" sz="2400" dirty="0" smtClean="0"/>
          </a:p>
          <a:p>
            <a:r>
              <a:rPr lang="en-US" sz="2400" b="1" dirty="0" smtClean="0"/>
              <a:t>	$</a:t>
            </a:r>
            <a:r>
              <a:rPr lang="en-US" sz="2400" b="1" dirty="0" err="1" smtClean="0"/>
              <a:t>fgrep</a:t>
            </a:r>
            <a:r>
              <a:rPr lang="en-US" sz="2400" b="1" dirty="0" smtClean="0"/>
              <a:t> [options] string [files]</a:t>
            </a:r>
            <a:endParaRPr lang="en-IN" sz="2400" dirty="0" smtClean="0"/>
          </a:p>
          <a:p>
            <a:endParaRPr lang="en-IN" sz="2400" b="1" dirty="0" smtClean="0"/>
          </a:p>
          <a:p>
            <a:r>
              <a:rPr lang="en-IN" sz="2400" dirty="0" smtClean="0"/>
              <a:t>Running </a:t>
            </a:r>
            <a:r>
              <a:rPr lang="en-IN" sz="2400" b="1" dirty="0" err="1" smtClean="0"/>
              <a:t>fgrep</a:t>
            </a:r>
            <a:r>
              <a:rPr lang="en-IN" sz="2400" dirty="0" smtClean="0"/>
              <a:t> is the same as running </a:t>
            </a:r>
            <a:r>
              <a:rPr lang="en-IN" sz="2400" b="1" dirty="0" err="1" smtClean="0"/>
              <a:t>grep</a:t>
            </a:r>
            <a:r>
              <a:rPr lang="en-IN" sz="2400" dirty="0" smtClean="0"/>
              <a:t> with the </a:t>
            </a:r>
            <a:r>
              <a:rPr lang="en-IN" sz="2400" b="1" dirty="0" smtClean="0"/>
              <a:t>-F</a:t>
            </a:r>
            <a:r>
              <a:rPr lang="en-IN" sz="2400" dirty="0" smtClean="0"/>
              <a:t> option.</a:t>
            </a:r>
          </a:p>
          <a:p>
            <a:endParaRPr lang="en-IN" sz="2400" b="1" dirty="0" smtClean="0"/>
          </a:p>
          <a:p>
            <a:r>
              <a:rPr lang="en-IN" sz="2400" b="1" dirty="0" smtClean="0"/>
              <a:t>example</a:t>
            </a:r>
          </a:p>
          <a:p>
            <a:r>
              <a:rPr lang="en-IN" sz="2400" dirty="0" smtClean="0"/>
              <a:t>$ </a:t>
            </a:r>
            <a:r>
              <a:rPr lang="en-IN" sz="2400" dirty="0" err="1" smtClean="0"/>
              <a:t>fgrep</a:t>
            </a:r>
            <a:r>
              <a:rPr lang="en-IN" sz="2400" dirty="0" smtClean="0"/>
              <a:t> "support" myfile.txt</a:t>
            </a:r>
          </a:p>
          <a:p>
            <a:r>
              <a:rPr lang="en-IN" sz="2400" dirty="0" smtClean="0"/>
              <a:t>Search for "</a:t>
            </a:r>
            <a:r>
              <a:rPr lang="en-IN" sz="2400" b="1" dirty="0" smtClean="0"/>
              <a:t>support</a:t>
            </a:r>
            <a:r>
              <a:rPr lang="en-IN" sz="2400" dirty="0" smtClean="0"/>
              <a:t>" in the file </a:t>
            </a:r>
            <a:r>
              <a:rPr lang="en-IN" sz="2400" b="1" dirty="0" smtClean="0"/>
              <a:t>myfile.txt</a:t>
            </a:r>
            <a:r>
              <a:rPr lang="en-IN" sz="2400" dirty="0" smtClean="0"/>
              <a:t>.</a:t>
            </a:r>
            <a:endParaRPr lang="en-IN" sz="2400" b="1" dirty="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27384"/>
            <a:ext cx="7488832" cy="812303"/>
          </a:xfrm>
        </p:spPr>
        <p:txBody>
          <a:bodyPr/>
          <a:lstStyle/>
          <a:p>
            <a:r>
              <a:rPr lang="en-IN" dirty="0" smtClean="0"/>
              <a:t>Finding Pattern in Files</a:t>
            </a:r>
            <a:endParaRPr lang="en-IN" dirty="0"/>
          </a:p>
        </p:txBody>
      </p:sp>
      <p:sp>
        <p:nvSpPr>
          <p:cNvPr id="5" name="TextBox 4"/>
          <p:cNvSpPr txBox="1"/>
          <p:nvPr/>
        </p:nvSpPr>
        <p:spPr>
          <a:xfrm>
            <a:off x="1331640" y="692696"/>
            <a:ext cx="7344816" cy="6001643"/>
          </a:xfrm>
          <a:prstGeom prst="rect">
            <a:avLst/>
          </a:prstGeom>
          <a:noFill/>
        </p:spPr>
        <p:txBody>
          <a:bodyPr wrap="square" rtlCol="0">
            <a:spAutoFit/>
          </a:bodyPr>
          <a:lstStyle/>
          <a:p>
            <a:r>
              <a:rPr lang="en-IN" sz="2400" b="1" dirty="0" err="1" smtClean="0"/>
              <a:t>egrep</a:t>
            </a:r>
            <a:endParaRPr lang="en-IN" sz="2400" b="1" dirty="0" smtClean="0"/>
          </a:p>
          <a:p>
            <a:r>
              <a:rPr lang="en-IN" sz="2400" dirty="0" smtClean="0"/>
              <a:t>Search for a pattern using extended regular expressions. A regular expression is a pattern that describes a set of strings.</a:t>
            </a:r>
          </a:p>
          <a:p>
            <a:r>
              <a:rPr lang="en-IN" sz="2400" b="1" dirty="0" err="1" smtClean="0"/>
              <a:t>egrep</a:t>
            </a:r>
            <a:r>
              <a:rPr lang="en-IN" sz="2400" dirty="0" smtClean="0"/>
              <a:t> is essentially the same as running </a:t>
            </a:r>
            <a:r>
              <a:rPr lang="en-IN" sz="2400" b="1" dirty="0" err="1" smtClean="0"/>
              <a:t>grep</a:t>
            </a:r>
            <a:r>
              <a:rPr lang="en-IN" sz="2400" dirty="0" smtClean="0"/>
              <a:t> with the </a:t>
            </a:r>
            <a:r>
              <a:rPr lang="en-IN" sz="2400" b="1" dirty="0" smtClean="0"/>
              <a:t>-E</a:t>
            </a:r>
            <a:r>
              <a:rPr lang="en-IN" sz="2400" dirty="0" smtClean="0"/>
              <a:t> option. </a:t>
            </a:r>
          </a:p>
          <a:p>
            <a:endParaRPr lang="en-IN" sz="2400" b="1" dirty="0" smtClean="0"/>
          </a:p>
          <a:p>
            <a:r>
              <a:rPr lang="en-IN" sz="2400" b="1" dirty="0" smtClean="0"/>
              <a:t>syntax</a:t>
            </a:r>
          </a:p>
          <a:p>
            <a:r>
              <a:rPr lang="en-IN" sz="2400" dirty="0" err="1" smtClean="0"/>
              <a:t>egrep</a:t>
            </a:r>
            <a:r>
              <a:rPr lang="en-IN" sz="2400" dirty="0" smtClean="0"/>
              <a:t> [</a:t>
            </a:r>
            <a:r>
              <a:rPr lang="en-IN" sz="2400" i="1" dirty="0" smtClean="0"/>
              <a:t>options</a:t>
            </a:r>
            <a:r>
              <a:rPr lang="en-IN" sz="2400" dirty="0" smtClean="0"/>
              <a:t>] </a:t>
            </a:r>
            <a:r>
              <a:rPr lang="en-IN" sz="2400" i="1" dirty="0" smtClean="0"/>
              <a:t>PATTERN</a:t>
            </a:r>
            <a:r>
              <a:rPr lang="en-IN" sz="2400" dirty="0" smtClean="0"/>
              <a:t> [</a:t>
            </a:r>
            <a:r>
              <a:rPr lang="en-IN" sz="2400" i="1" dirty="0" smtClean="0"/>
              <a:t>FILE</a:t>
            </a:r>
            <a:r>
              <a:rPr lang="en-IN" sz="2400" dirty="0" smtClean="0"/>
              <a:t>...]</a:t>
            </a:r>
          </a:p>
          <a:p>
            <a:endParaRPr lang="en-IN" sz="2400" b="1" dirty="0" smtClean="0"/>
          </a:p>
          <a:p>
            <a:r>
              <a:rPr lang="en-IN" sz="2400" b="1" dirty="0" smtClean="0"/>
              <a:t>Example 1</a:t>
            </a:r>
          </a:p>
          <a:p>
            <a:r>
              <a:rPr lang="en-IN" sz="2400" dirty="0" smtClean="0"/>
              <a:t>$ </a:t>
            </a:r>
            <a:r>
              <a:rPr lang="en-IN" sz="2400" dirty="0" err="1" smtClean="0"/>
              <a:t>egrep</a:t>
            </a:r>
            <a:r>
              <a:rPr lang="en-IN" sz="2400" dirty="0" smtClean="0"/>
              <a:t> "</a:t>
            </a:r>
            <a:r>
              <a:rPr lang="en-IN" sz="2400" dirty="0" err="1" smtClean="0"/>
              <a:t>support|help|windows</a:t>
            </a:r>
            <a:r>
              <a:rPr lang="en-IN" sz="2400" dirty="0" smtClean="0"/>
              <a:t>" myfile.txt </a:t>
            </a:r>
          </a:p>
          <a:p>
            <a:endParaRPr lang="en-IN" sz="2400" dirty="0" smtClean="0"/>
          </a:p>
          <a:p>
            <a:r>
              <a:rPr lang="en-IN" sz="2400" dirty="0" smtClean="0"/>
              <a:t>Search for patterns of support help and windows in the file </a:t>
            </a:r>
            <a:r>
              <a:rPr lang="en-IN" sz="2400" b="1" dirty="0" smtClean="0"/>
              <a:t>myfile.txt</a:t>
            </a:r>
            <a:r>
              <a:rPr lang="en-IN" sz="2400" dirty="0" smtClean="0"/>
              <a:t>.</a:t>
            </a:r>
          </a:p>
          <a:p>
            <a:endParaRPr lang="en-IN" sz="2400" b="1" dirty="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27384"/>
            <a:ext cx="7488832" cy="812303"/>
          </a:xfrm>
        </p:spPr>
        <p:txBody>
          <a:bodyPr/>
          <a:lstStyle/>
          <a:p>
            <a:r>
              <a:rPr lang="en-IN" dirty="0" smtClean="0"/>
              <a:t>Finding Pattern in Files</a:t>
            </a:r>
            <a:endParaRPr lang="en-IN" dirty="0"/>
          </a:p>
        </p:txBody>
      </p:sp>
      <p:sp>
        <p:nvSpPr>
          <p:cNvPr id="5" name="TextBox 4"/>
          <p:cNvSpPr txBox="1"/>
          <p:nvPr/>
        </p:nvSpPr>
        <p:spPr>
          <a:xfrm>
            <a:off x="1331640" y="692696"/>
            <a:ext cx="7344816" cy="4524315"/>
          </a:xfrm>
          <a:prstGeom prst="rect">
            <a:avLst/>
          </a:prstGeom>
          <a:noFill/>
        </p:spPr>
        <p:txBody>
          <a:bodyPr wrap="square" rtlCol="0">
            <a:spAutoFit/>
          </a:bodyPr>
          <a:lstStyle/>
          <a:p>
            <a:r>
              <a:rPr lang="en-IN" sz="2400" b="1" dirty="0" smtClean="0"/>
              <a:t>Example 2</a:t>
            </a:r>
          </a:p>
          <a:p>
            <a:r>
              <a:rPr lang="en-IN" sz="2400" dirty="0" smtClean="0"/>
              <a:t>$ </a:t>
            </a:r>
            <a:r>
              <a:rPr lang="en-IN" sz="2400" dirty="0" err="1" smtClean="0"/>
              <a:t>egrep</a:t>
            </a:r>
            <a:r>
              <a:rPr lang="en-IN" sz="2400" dirty="0" smtClean="0"/>
              <a:t> '^[a-</a:t>
            </a:r>
            <a:r>
              <a:rPr lang="en-IN" sz="2400" dirty="0" err="1" smtClean="0"/>
              <a:t>zA</a:t>
            </a:r>
            <a:r>
              <a:rPr lang="en-IN" sz="2400" dirty="0" smtClean="0"/>
              <a:t>-Z]+$' myfile.txt </a:t>
            </a:r>
          </a:p>
          <a:p>
            <a:endParaRPr lang="en-IN" sz="2400" dirty="0" smtClean="0"/>
          </a:p>
          <a:p>
            <a:r>
              <a:rPr lang="en-IN" sz="2400" dirty="0" smtClean="0"/>
              <a:t>Match any lines in </a:t>
            </a:r>
            <a:r>
              <a:rPr lang="en-IN" sz="2400" b="1" dirty="0" smtClean="0"/>
              <a:t>myfile.txt</a:t>
            </a:r>
            <a:r>
              <a:rPr lang="en-IN" sz="2400" dirty="0" smtClean="0"/>
              <a:t> which begin a line with an alphabetic word which also ends the line.</a:t>
            </a:r>
          </a:p>
          <a:p>
            <a:endParaRPr lang="en-IN" sz="2400" dirty="0" smtClean="0"/>
          </a:p>
          <a:p>
            <a:r>
              <a:rPr lang="en-IN" sz="2400" b="1" dirty="0" smtClean="0"/>
              <a:t>Example 3</a:t>
            </a:r>
            <a:endParaRPr lang="en-IN" sz="2400" dirty="0" smtClean="0"/>
          </a:p>
          <a:p>
            <a:r>
              <a:rPr lang="en-IN" sz="2400" dirty="0" smtClean="0"/>
              <a:t>$ </a:t>
            </a:r>
            <a:r>
              <a:rPr lang="en-IN" sz="2400" dirty="0" err="1" smtClean="0"/>
              <a:t>egrep</a:t>
            </a:r>
            <a:r>
              <a:rPr lang="en-IN" sz="2400" dirty="0" smtClean="0"/>
              <a:t> -c '^</a:t>
            </a:r>
            <a:r>
              <a:rPr lang="en-IN" sz="2400" dirty="0" err="1" smtClean="0"/>
              <a:t>begin|end</a:t>
            </a:r>
            <a:r>
              <a:rPr lang="en-IN" sz="2400" dirty="0" smtClean="0"/>
              <a:t>$' myfile.txt </a:t>
            </a:r>
          </a:p>
          <a:p>
            <a:endParaRPr lang="en-IN" sz="2400" dirty="0" smtClean="0"/>
          </a:p>
          <a:p>
            <a:r>
              <a:rPr lang="en-IN" sz="2400" dirty="0" smtClean="0"/>
              <a:t>Count the number of lines in </a:t>
            </a:r>
            <a:r>
              <a:rPr lang="en-IN" sz="2400" b="1" dirty="0" smtClean="0"/>
              <a:t>myfile.txt</a:t>
            </a:r>
            <a:r>
              <a:rPr lang="en-IN" sz="2400" dirty="0" smtClean="0"/>
              <a:t> which begin with the word '</a:t>
            </a:r>
            <a:r>
              <a:rPr lang="en-IN" sz="2400" b="1" dirty="0" smtClean="0"/>
              <a:t>begin</a:t>
            </a:r>
            <a:r>
              <a:rPr lang="en-IN" sz="2400" dirty="0" smtClean="0"/>
              <a:t>' or end with the word '</a:t>
            </a:r>
            <a:r>
              <a:rPr lang="en-IN" sz="2400" b="1" dirty="0" smtClean="0"/>
              <a:t>end</a:t>
            </a:r>
            <a:r>
              <a:rPr lang="en-IN" sz="2400" dirty="0" smtClean="0"/>
              <a:t>'.</a:t>
            </a:r>
          </a:p>
          <a:p>
            <a:endParaRPr lang="en-IN" sz="2400" dirty="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27384"/>
            <a:ext cx="7488832" cy="812303"/>
          </a:xfrm>
        </p:spPr>
        <p:txBody>
          <a:bodyPr/>
          <a:lstStyle/>
          <a:p>
            <a:r>
              <a:rPr lang="en-IN" dirty="0" smtClean="0"/>
              <a:t>Working with columns and fields</a:t>
            </a:r>
            <a:endParaRPr lang="en-IN" dirty="0"/>
          </a:p>
        </p:txBody>
      </p:sp>
      <p:sp>
        <p:nvSpPr>
          <p:cNvPr id="5" name="TextBox 4"/>
          <p:cNvSpPr txBox="1"/>
          <p:nvPr/>
        </p:nvSpPr>
        <p:spPr>
          <a:xfrm>
            <a:off x="1331640" y="860519"/>
            <a:ext cx="7344816" cy="5262979"/>
          </a:xfrm>
          <a:prstGeom prst="rect">
            <a:avLst/>
          </a:prstGeom>
          <a:noFill/>
        </p:spPr>
        <p:txBody>
          <a:bodyPr wrap="square" rtlCol="0">
            <a:spAutoFit/>
          </a:bodyPr>
          <a:lstStyle/>
          <a:p>
            <a:r>
              <a:rPr lang="en-IN" sz="2400" b="1" dirty="0" smtClean="0"/>
              <a:t>Cut – Removes sections from each line of files.</a:t>
            </a:r>
          </a:p>
          <a:p>
            <a:r>
              <a:rPr lang="en-IN" sz="2400" dirty="0" smtClean="0"/>
              <a:t>Prints selected parts of lines from each file to standard output.</a:t>
            </a:r>
          </a:p>
          <a:p>
            <a:endParaRPr lang="en-IN" sz="2400" dirty="0" smtClean="0"/>
          </a:p>
          <a:p>
            <a:r>
              <a:rPr lang="en-IN" sz="2400" b="1" dirty="0" smtClean="0"/>
              <a:t>Options</a:t>
            </a:r>
          </a:p>
          <a:p>
            <a:r>
              <a:rPr lang="en-IN" sz="2400" dirty="0" smtClean="0"/>
              <a:t>-f	Extract a set of specified fields. </a:t>
            </a:r>
          </a:p>
          <a:p>
            <a:r>
              <a:rPr lang="en-IN" sz="2400" dirty="0" smtClean="0"/>
              <a:t>-d	Used with the -f option. Use a specified delimiter rather than default tab.</a:t>
            </a:r>
          </a:p>
          <a:p>
            <a:endParaRPr lang="en-IN" sz="2400" dirty="0" smtClean="0"/>
          </a:p>
          <a:p>
            <a:r>
              <a:rPr lang="en-IN" sz="2400" dirty="0" smtClean="0"/>
              <a:t>Imagine we’ve got a file numbers.txt, which consist of three columns:</a:t>
            </a:r>
          </a:p>
          <a:p>
            <a:r>
              <a:rPr lang="en-IN" sz="2400" dirty="0" smtClean="0"/>
              <a:t>col_1 		col_2 		col_3   </a:t>
            </a:r>
          </a:p>
          <a:p>
            <a:r>
              <a:rPr lang="en-IN" sz="2400" dirty="0" smtClean="0"/>
              <a:t>one 		two 		three   </a:t>
            </a:r>
          </a:p>
          <a:p>
            <a:r>
              <a:rPr lang="en-IN" sz="2400" dirty="0" smtClean="0"/>
              <a:t>four 		five 		six   </a:t>
            </a:r>
            <a:endParaRPr lang="en-IN" sz="2400" dirty="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27384"/>
            <a:ext cx="7488832" cy="812303"/>
          </a:xfrm>
        </p:spPr>
        <p:txBody>
          <a:bodyPr/>
          <a:lstStyle/>
          <a:p>
            <a:r>
              <a:rPr lang="en-IN" dirty="0" smtClean="0"/>
              <a:t>Working with columns and fields</a:t>
            </a:r>
            <a:endParaRPr lang="en-IN" dirty="0"/>
          </a:p>
        </p:txBody>
      </p:sp>
      <p:sp>
        <p:nvSpPr>
          <p:cNvPr id="5" name="TextBox 4"/>
          <p:cNvSpPr txBox="1"/>
          <p:nvPr/>
        </p:nvSpPr>
        <p:spPr>
          <a:xfrm>
            <a:off x="1331640" y="860519"/>
            <a:ext cx="7344816" cy="5632311"/>
          </a:xfrm>
          <a:prstGeom prst="rect">
            <a:avLst/>
          </a:prstGeom>
          <a:noFill/>
        </p:spPr>
        <p:txBody>
          <a:bodyPr wrap="square" rtlCol="0">
            <a:spAutoFit/>
          </a:bodyPr>
          <a:lstStyle/>
          <a:p>
            <a:r>
              <a:rPr lang="en-IN" sz="2400" dirty="0" smtClean="0"/>
              <a:t>In the following example cut will return only column (col_2) :</a:t>
            </a:r>
          </a:p>
          <a:p>
            <a:endParaRPr lang="en-IN" sz="2400" dirty="0" smtClean="0"/>
          </a:p>
          <a:p>
            <a:r>
              <a:rPr lang="en-IN" sz="2400" dirty="0" smtClean="0"/>
              <a:t>$ cut -f2 numbers.txt   </a:t>
            </a:r>
          </a:p>
          <a:p>
            <a:r>
              <a:rPr lang="en-IN" sz="2400" dirty="0" smtClean="0"/>
              <a:t>col_2 </a:t>
            </a:r>
          </a:p>
          <a:p>
            <a:r>
              <a:rPr lang="en-IN" sz="2400" dirty="0" smtClean="0"/>
              <a:t>two </a:t>
            </a:r>
          </a:p>
          <a:p>
            <a:r>
              <a:rPr lang="en-IN" sz="2400" dirty="0" smtClean="0"/>
              <a:t>Five</a:t>
            </a:r>
          </a:p>
          <a:p>
            <a:endParaRPr lang="en-IN" sz="2400" dirty="0" smtClean="0"/>
          </a:p>
          <a:p>
            <a:r>
              <a:rPr lang="en-IN" sz="2400" dirty="0" smtClean="0"/>
              <a:t>in the next example cut will return columns 2 and 3:</a:t>
            </a:r>
          </a:p>
          <a:p>
            <a:endParaRPr lang="en-IN" sz="2400" dirty="0" smtClean="0"/>
          </a:p>
          <a:p>
            <a:r>
              <a:rPr lang="en-IN" sz="2400" dirty="0" smtClean="0"/>
              <a:t>$ cut -f1,3 numbers.txt   </a:t>
            </a:r>
          </a:p>
          <a:p>
            <a:r>
              <a:rPr lang="en-IN" sz="2400" dirty="0" smtClean="0"/>
              <a:t>col_1 	col_3 </a:t>
            </a:r>
          </a:p>
          <a:p>
            <a:r>
              <a:rPr lang="en-IN" sz="2400" dirty="0" smtClean="0"/>
              <a:t>one 	three </a:t>
            </a:r>
          </a:p>
          <a:p>
            <a:r>
              <a:rPr lang="en-IN" sz="2400" dirty="0" smtClean="0"/>
              <a:t>four 	six </a:t>
            </a:r>
          </a:p>
          <a:p>
            <a:endParaRPr lang="en-IN" sz="2400" dirty="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27384"/>
            <a:ext cx="7488832" cy="812303"/>
          </a:xfrm>
        </p:spPr>
        <p:txBody>
          <a:bodyPr/>
          <a:lstStyle/>
          <a:p>
            <a:r>
              <a:rPr lang="en-IN" dirty="0" smtClean="0"/>
              <a:t>Working with columns and fields</a:t>
            </a:r>
            <a:endParaRPr lang="en-IN" dirty="0"/>
          </a:p>
        </p:txBody>
      </p:sp>
      <p:sp>
        <p:nvSpPr>
          <p:cNvPr id="5" name="TextBox 4"/>
          <p:cNvSpPr txBox="1"/>
          <p:nvPr/>
        </p:nvSpPr>
        <p:spPr>
          <a:xfrm>
            <a:off x="1331640" y="860519"/>
            <a:ext cx="7344816" cy="6001643"/>
          </a:xfrm>
          <a:prstGeom prst="rect">
            <a:avLst/>
          </a:prstGeom>
          <a:noFill/>
        </p:spPr>
        <p:txBody>
          <a:bodyPr wrap="square" rtlCol="0">
            <a:spAutoFit/>
          </a:bodyPr>
          <a:lstStyle/>
          <a:p>
            <a:r>
              <a:rPr lang="en-IN" sz="3600" dirty="0" smtClean="0"/>
              <a:t>We’ve got the following file: fileone.txt</a:t>
            </a:r>
          </a:p>
          <a:p>
            <a:r>
              <a:rPr lang="en-IN" sz="3600" dirty="0" smtClean="0"/>
              <a:t>01234:567;89 </a:t>
            </a:r>
          </a:p>
          <a:p>
            <a:r>
              <a:rPr lang="en-IN" sz="3600" dirty="0" smtClean="0"/>
              <a:t>ABCD:EFGH;IJ </a:t>
            </a:r>
          </a:p>
          <a:p>
            <a:endParaRPr lang="en-IN" sz="3600" dirty="0" smtClean="0"/>
          </a:p>
          <a:p>
            <a:r>
              <a:rPr lang="en-IN" sz="3600" dirty="0" smtClean="0"/>
              <a:t>display everything in first column before delimiter “;”</a:t>
            </a:r>
          </a:p>
          <a:p>
            <a:endParaRPr lang="en-IN" sz="3600" dirty="0" smtClean="0"/>
          </a:p>
          <a:p>
            <a:r>
              <a:rPr lang="en-IN" sz="3600" dirty="0" smtClean="0"/>
              <a:t>$ cut -d ";" -f1 fileone.txt   </a:t>
            </a:r>
          </a:p>
          <a:p>
            <a:r>
              <a:rPr lang="en-IN" sz="3600" dirty="0" smtClean="0"/>
              <a:t>01234:567 </a:t>
            </a:r>
          </a:p>
          <a:p>
            <a:r>
              <a:rPr lang="en-IN" sz="3600" dirty="0" smtClean="0"/>
              <a:t>ABCDE:FGH </a:t>
            </a:r>
          </a:p>
          <a:p>
            <a:endParaRPr lang="en-IN" sz="2400" dirty="0"/>
          </a:p>
        </p:txBody>
      </p:sp>
      <p:sp>
        <p:nvSpPr>
          <p:cNvPr id="3" name="Footer Placeholder 2"/>
          <p:cNvSpPr>
            <a:spLocks noGrp="1"/>
          </p:cNvSpPr>
          <p:nvPr>
            <p:ph type="ftr" sz="quarter" idx="11"/>
          </p:nvPr>
        </p:nvSpPr>
        <p:spPr/>
        <p:txBody>
          <a:bodyPr/>
          <a:lstStyle/>
          <a:p>
            <a:r>
              <a:rPr lang="en-US" smtClean="0"/>
              <a:t>Created By: Prof. Mital Goswami</a:t>
            </a:r>
            <a:endParaRPr lang="en-IN"/>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5353</TotalTime>
  <Words>3773</Words>
  <Application>Microsoft Office PowerPoint</Application>
  <PresentationFormat>On-screen Show (4:3)</PresentationFormat>
  <Paragraphs>805</Paragraphs>
  <Slides>60</Slides>
  <Notes>0</Notes>
  <HiddenSlides>0</HiddenSlides>
  <MMClips>0</MMClips>
  <ScaleCrop>false</ScaleCrop>
  <HeadingPairs>
    <vt:vector size="4" baseType="variant">
      <vt:variant>
        <vt:lpstr>Theme</vt:lpstr>
      </vt:variant>
      <vt:variant>
        <vt:i4>1</vt:i4>
      </vt:variant>
      <vt:variant>
        <vt:lpstr>Slide Titles</vt:lpstr>
      </vt:variant>
      <vt:variant>
        <vt:i4>60</vt:i4>
      </vt:variant>
    </vt:vector>
  </HeadingPairs>
  <TitlesOfParts>
    <vt:vector size="61" baseType="lpstr">
      <vt:lpstr>Solstice</vt:lpstr>
      <vt:lpstr>UNIX Commands</vt:lpstr>
      <vt:lpstr>Login Commands</vt:lpstr>
      <vt:lpstr>Login Commands</vt:lpstr>
      <vt:lpstr>Login Commands</vt:lpstr>
      <vt:lpstr>Login Commands</vt:lpstr>
      <vt:lpstr>Login Commands</vt:lpstr>
      <vt:lpstr>Login Commands</vt:lpstr>
      <vt:lpstr>Login Commands</vt:lpstr>
      <vt:lpstr> uname:</vt:lpstr>
      <vt:lpstr>File &amp; Directory Commands</vt:lpstr>
      <vt:lpstr>File &amp; Directory Commands</vt:lpstr>
      <vt:lpstr>File &amp; Directory Commands</vt:lpstr>
      <vt:lpstr>File &amp; Directory Commands</vt:lpstr>
      <vt:lpstr>File &amp; Directory Commands</vt:lpstr>
      <vt:lpstr>File &amp; Directory Commands</vt:lpstr>
      <vt:lpstr>File &amp; Directory Commands</vt:lpstr>
      <vt:lpstr>File &amp; Directory Commands</vt:lpstr>
      <vt:lpstr>File &amp; Directory Commands</vt:lpstr>
      <vt:lpstr>File &amp; Directory Commands</vt:lpstr>
      <vt:lpstr>File &amp; Directory Commands</vt:lpstr>
      <vt:lpstr>File &amp; Directory Commands</vt:lpstr>
      <vt:lpstr>File &amp; Directory Commands</vt:lpstr>
      <vt:lpstr>File &amp; Directory Commands</vt:lpstr>
      <vt:lpstr>File &amp; Directory Commands</vt:lpstr>
      <vt:lpstr>File &amp; Directory Commands</vt:lpstr>
      <vt:lpstr>File &amp; Directory Commands</vt:lpstr>
      <vt:lpstr>File &amp; Directory Commands</vt:lpstr>
      <vt:lpstr>File &amp; Directory Commands</vt:lpstr>
      <vt:lpstr>PowerPoint Presentation</vt:lpstr>
      <vt:lpstr>File &amp; Directory Commands</vt:lpstr>
      <vt:lpstr>File &amp; Directory Commands</vt:lpstr>
      <vt:lpstr>File &amp; Directory Commands</vt:lpstr>
      <vt:lpstr>File &amp; Directory Commands</vt:lpstr>
      <vt:lpstr>Example</vt:lpstr>
      <vt:lpstr>File &amp; Directory Commands</vt:lpstr>
      <vt:lpstr>File &amp; Directory Commands</vt:lpstr>
      <vt:lpstr>File &amp; Directory Commands</vt:lpstr>
      <vt:lpstr>File &amp; Directory Commands</vt:lpstr>
      <vt:lpstr>File &amp; Directory Commands</vt:lpstr>
      <vt:lpstr>File &amp; Directory Commands</vt:lpstr>
      <vt:lpstr>File &amp; Directory Commands</vt:lpstr>
      <vt:lpstr>File &amp; Directory Commands</vt:lpstr>
      <vt:lpstr>File &amp; Directory Commands</vt:lpstr>
      <vt:lpstr>File &amp; Directory Commands</vt:lpstr>
      <vt:lpstr>File &amp; Directory Commands</vt:lpstr>
      <vt:lpstr>File &amp; Directory Commands</vt:lpstr>
      <vt:lpstr>PowerPoint Presentation</vt:lpstr>
      <vt:lpstr>Redirection &amp; Piping</vt:lpstr>
      <vt:lpstr>Redirection &amp; Piping</vt:lpstr>
      <vt:lpstr>Redirection &amp; Piping</vt:lpstr>
      <vt:lpstr>Redirection &amp; Piping</vt:lpstr>
      <vt:lpstr>Finding Pattern in Files</vt:lpstr>
      <vt:lpstr>Finding Pattern in Files</vt:lpstr>
      <vt:lpstr>Finding Pattern in Files</vt:lpstr>
      <vt:lpstr>Finding Pattern in Files</vt:lpstr>
      <vt:lpstr>Finding Pattern in Files</vt:lpstr>
      <vt:lpstr>Finding Pattern in Files</vt:lpstr>
      <vt:lpstr>Working with columns and fields</vt:lpstr>
      <vt:lpstr>Working with columns and fields</vt:lpstr>
      <vt:lpstr>Working with columns and fields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UNIX – Chapter 1</dc:title>
  <dc:creator>rashesh</dc:creator>
  <cp:lastModifiedBy>SmArT</cp:lastModifiedBy>
  <cp:revision>189</cp:revision>
  <dcterms:created xsi:type="dcterms:W3CDTF">2017-11-08T05:24:12Z</dcterms:created>
  <dcterms:modified xsi:type="dcterms:W3CDTF">2026-01-31T03:16:42Z</dcterms:modified>
</cp:coreProperties>
</file>